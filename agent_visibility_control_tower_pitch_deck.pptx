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15400" y="-137160"/>
            <a:ext cx="2834640" cy="2194560"/>
          </a:xfrm>
          <a:prstGeom prst="ellipse">
            <a:avLst/>
          </a:prstGeom>
          <a:solidFill>
            <a:srgbClr val="DFF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548640" y="-182880"/>
            <a:ext cx="3108960" cy="1920240"/>
          </a:xfrm>
          <a:prstGeom prst="ellipse">
            <a:avLst/>
          </a:prstGeom>
          <a:solidFill>
            <a:srgbClr val="8DB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818120" y="4983480"/>
            <a:ext cx="2926080" cy="1371600"/>
          </a:xfrm>
          <a:prstGeom prst="ellipse">
            <a:avLst/>
          </a:prstGeom>
          <a:solidFill>
            <a:srgbClr val="3E8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57200"/>
            <a:ext cx="2697480" cy="310896"/>
          </a:xfrm>
          <a:prstGeom prst="roundRect">
            <a:avLst/>
          </a:prstGeom>
          <a:solidFill>
            <a:srgbClr val="DFF2E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" y="466344"/>
            <a:ext cx="2624328" cy="237744"/>
          </a:xfrm>
          <a:prstGeom prst="rect">
            <a:avLst/>
          </a:prstGeom>
          <a:noFill/>
        </p:spPr>
        <p:txBody>
          <a:bodyPr wrap="square" lIns="73152" rIns="73152" tIns="54864" bIns="3291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 i="0">
                <a:solidFill>
                  <a:srgbClr val="2D6D45"/>
                </a:solidFill>
                <a:latin typeface="Aptos"/>
              </a:rPr>
              <a:t>Transforming Enterprise Through AI | Track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005840"/>
            <a:ext cx="5669280" cy="1051560"/>
          </a:xfrm>
          <a:prstGeom prst="rect">
            <a:avLst/>
          </a:prstGeom>
          <a:noFill/>
        </p:spPr>
        <p:txBody>
          <a:bodyPr wrap="square" lIns="73152" rIns="73152" tIns="54864" bIns="3291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 i="0">
                <a:solidFill>
                  <a:srgbClr val="152016"/>
                </a:solidFill>
                <a:latin typeface="Aptos"/>
              </a:rPr>
              <a:t>Agent Visibility
Control Tower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331720"/>
            <a:ext cx="5303520" cy="347472"/>
          </a:xfrm>
          <a:prstGeom prst="rect">
            <a:avLst/>
          </a:prstGeom>
          <a:noFill/>
        </p:spPr>
        <p:txBody>
          <a:bodyPr wrap="square" lIns="73152" rIns="73152" tIns="54864" bIns="3291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2D6D45"/>
                </a:solidFill>
                <a:latin typeface="Aptos"/>
              </a:rPr>
              <a:t>The control tower for the machine-facing GTM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743200"/>
            <a:ext cx="5440680" cy="822960"/>
          </a:xfrm>
          <a:prstGeom prst="rect">
            <a:avLst/>
          </a:prstGeom>
          <a:noFill/>
        </p:spPr>
        <p:txBody>
          <a:bodyPr wrap="square" lIns="73152" rIns="73152" tIns="54864" bIns="3291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20" b="0" i="0">
                <a:solidFill>
                  <a:srgbClr val="49564A"/>
                </a:solidFill>
                <a:latin typeface="Aptos"/>
              </a:rPr>
              <a:t>Inspect and repair how AI agents, LLMs, and answer engines understand, cite, route, or skip your company.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5897880"/>
            <a:ext cx="5486400" cy="274320"/>
          </a:xfrm>
          <a:prstGeom prst="rect">
            <a:avLst/>
          </a:prstGeom>
          <a:noFill/>
        </p:spPr>
        <p:txBody>
          <a:bodyPr wrap="square" lIns="73152" rIns="73152" tIns="54864" bIns="3291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6F7D70"/>
                </a:solidFill>
                <a:latin typeface="Aptos"/>
              </a:rPr>
              <a:t>One URL in. One bounded Gemini workflow. One executive-ready Fix Pack.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03720" y="914400"/>
            <a:ext cx="457200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05472" y="1143000"/>
            <a:ext cx="3968496" cy="292608"/>
          </a:xfrm>
          <a:prstGeom prst="rect">
            <a:avLst/>
          </a:prstGeom>
          <a:noFill/>
        </p:spPr>
        <p:txBody>
          <a:bodyPr wrap="square" lIns="73152" rIns="73152" tIns="54864" bIns="32918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>
                <a:solidFill>
                  <a:srgbClr val="2D6D45"/>
                </a:solidFill>
                <a:latin typeface="Aptos"/>
              </a:rPr>
              <a:t>Boardroom-ready executive work product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05472" y="1572768"/>
            <a:ext cx="3968496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DBB95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0" y="1682495"/>
            <a:ext cx="3749039" cy="2980944"/>
          </a:xfrm>
          <a:prstGeom prst="rect">
            <a:avLst/>
          </a:prstGeom>
          <a:noFill/>
        </p:spPr>
        <p:txBody>
          <a:bodyPr wrap="square" lIns="73152" rIns="73152" tIns="54864" bIns="3291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2D6D45"/>
                </a:solidFill>
                <a:latin typeface="Aptos"/>
              </a:rPr>
              <a:t>[INSERT APP SCREENSHOT: Hero / main app screen]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05472" y="4956048"/>
            <a:ext cx="3968496" cy="603504"/>
          </a:xfrm>
          <a:prstGeom prst="roundRect">
            <a:avLst/>
          </a:prstGeom>
          <a:solidFill>
            <a:srgbClr val="DFF2E5"/>
          </a:solidFill>
          <a:ln w="12700">
            <a:solidFill>
              <a:srgbClr val="DFF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1775" y="5084064"/>
            <a:ext cx="3657600" cy="201168"/>
          </a:xfrm>
          <a:prstGeom prst="rect">
            <a:avLst/>
          </a:prstGeom>
          <a:noFill/>
        </p:spPr>
        <p:txBody>
          <a:bodyPr wrap="square" lIns="73152" rIns="73152" tIns="54864" bIns="32918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30" b="1" i="0">
                <a:solidFill>
                  <a:srgbClr val="2D6D45"/>
                </a:solidFill>
                <a:latin typeface="Aptos"/>
              </a:rPr>
              <a:t>Premium, calm, evidence-constrained workflow for enterprise teams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48288" y="6400800"/>
            <a:ext cx="320040" cy="201168"/>
          </a:xfrm>
          <a:prstGeom prst="rect">
            <a:avLst/>
          </a:prstGeom>
          <a:noFill/>
        </p:spPr>
        <p:txBody>
          <a:bodyPr wrap="square" lIns="73152" rIns="73152" tIns="54864" bIns="32918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50" b="0" i="0">
                <a:solidFill>
                  <a:srgbClr val="6F7D70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15400" y="-137160"/>
            <a:ext cx="2834640" cy="2194560"/>
          </a:xfrm>
          <a:prstGeom prst="ellipse">
            <a:avLst/>
          </a:prstGeom>
          <a:solidFill>
            <a:srgbClr val="DFF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548640" y="-182880"/>
            <a:ext cx="3108960" cy="1920240"/>
          </a:xfrm>
          <a:prstGeom prst="ellipse">
            <a:avLst/>
          </a:prstGeom>
          <a:solidFill>
            <a:srgbClr val="8DB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818120" y="4983480"/>
            <a:ext cx="2926080" cy="1371600"/>
          </a:xfrm>
          <a:prstGeom prst="ellipse">
            <a:avLst/>
          </a:prstGeom>
          <a:solidFill>
            <a:srgbClr val="3E8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20624"/>
            <a:ext cx="1325880" cy="310896"/>
          </a:xfrm>
          <a:prstGeom prst="roundRect">
            <a:avLst/>
          </a:prstGeom>
          <a:solidFill>
            <a:srgbClr val="DFF2E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" y="429768"/>
            <a:ext cx="1252728" cy="237744"/>
          </a:xfrm>
          <a:prstGeom prst="rect">
            <a:avLst/>
          </a:prstGeom>
          <a:noFill/>
        </p:spPr>
        <p:txBody>
          <a:bodyPr wrap="square" lIns="73152" rIns="73152" tIns="54864" bIns="3291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 i="0">
                <a:solidFill>
                  <a:srgbClr val="2D6D45"/>
                </a:solidFill>
                <a:latin typeface="Aptos"/>
              </a:rPr>
              <a:t>Market shift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868680"/>
            <a:ext cx="10149840" cy="640080"/>
          </a:xfrm>
          <a:prstGeom prst="rect">
            <a:avLst/>
          </a:prstGeom>
          <a:noFill/>
        </p:spPr>
        <p:txBody>
          <a:bodyPr wrap="square" lIns="73152" rIns="73152" tIns="54864" bIns="3291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152016"/>
                </a:solidFill>
                <a:latin typeface="Aptos"/>
              </a:rPr>
              <a:t>Your next visitor isn’t human.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389888"/>
            <a:ext cx="10241280" cy="384048"/>
          </a:xfrm>
          <a:prstGeom prst="rect">
            <a:avLst/>
          </a:prstGeom>
          <a:noFill/>
        </p:spPr>
        <p:txBody>
          <a:bodyPr wrap="square" lIns="73152" rIns="73152" tIns="54864" bIns="3291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49564A"/>
                </a:solidFill>
                <a:latin typeface="Aptos"/>
              </a:rPr>
              <a:t>A machine can now shape perception, routing, and trust before a human buyer ever clicks.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1920240"/>
            <a:ext cx="960120" cy="201168"/>
          </a:xfrm>
          <a:prstGeom prst="rect">
            <a:avLst/>
          </a:prstGeom>
          <a:noFill/>
        </p:spPr>
        <p:txBody>
          <a:bodyPr wrap="square" lIns="73152" rIns="73152" tIns="54864" bIns="3291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6F7D70"/>
                </a:solidFill>
                <a:latin typeface="Aptos"/>
              </a:rPr>
              <a:t>Old web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" y="2240280"/>
            <a:ext cx="1078992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2331720"/>
            <a:ext cx="932688" cy="310896"/>
          </a:xfrm>
          <a:prstGeom prst="rect">
            <a:avLst/>
          </a:prstGeom>
          <a:noFill/>
        </p:spPr>
        <p:txBody>
          <a:bodyPr wrap="square" lIns="73152" rIns="73152" tIns="54864" bIns="3291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1" i="0">
                <a:solidFill>
                  <a:srgbClr val="152016"/>
                </a:solidFill>
                <a:latin typeface="Aptos"/>
              </a:rPr>
              <a:t>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9384" y="2450592"/>
            <a:ext cx="310896" cy="256032"/>
          </a:xfrm>
          <a:prstGeom prst="rect">
            <a:avLst/>
          </a:prstGeom>
          <a:noFill/>
        </p:spPr>
        <p:txBody>
          <a:bodyPr wrap="square" lIns="73152" rIns="73152" tIns="54864" bIns="3291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 i="0">
                <a:solidFill>
                  <a:srgbClr val="6F7D70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12848" y="2240280"/>
            <a:ext cx="1078992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86000" y="2331720"/>
            <a:ext cx="932688" cy="310896"/>
          </a:xfrm>
          <a:prstGeom prst="rect">
            <a:avLst/>
          </a:prstGeom>
          <a:noFill/>
        </p:spPr>
        <p:txBody>
          <a:bodyPr wrap="square" lIns="73152" rIns="73152" tIns="54864" bIns="3291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1" i="0">
                <a:solidFill>
                  <a:srgbClr val="152016"/>
                </a:solidFill>
                <a:latin typeface="Aptos"/>
              </a:rPr>
              <a:t>Click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2450592"/>
            <a:ext cx="310896" cy="256032"/>
          </a:xfrm>
          <a:prstGeom prst="rect">
            <a:avLst/>
          </a:prstGeom>
          <a:noFill/>
        </p:spPr>
        <p:txBody>
          <a:bodyPr wrap="square" lIns="73152" rIns="73152" tIns="54864" bIns="3291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 i="0">
                <a:solidFill>
                  <a:srgbClr val="6F7D70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21024" y="2240280"/>
            <a:ext cx="1078992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94176" y="2331720"/>
            <a:ext cx="932688" cy="310896"/>
          </a:xfrm>
          <a:prstGeom prst="rect">
            <a:avLst/>
          </a:prstGeom>
          <a:noFill/>
        </p:spPr>
        <p:txBody>
          <a:bodyPr wrap="square" lIns="73152" rIns="73152" tIns="54864" bIns="3291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1" i="0">
                <a:solidFill>
                  <a:srgbClr val="152016"/>
                </a:solidFill>
                <a:latin typeface="Aptos"/>
              </a:rPr>
              <a:t>Website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45736" y="2450592"/>
            <a:ext cx="310896" cy="256032"/>
          </a:xfrm>
          <a:prstGeom prst="rect">
            <a:avLst/>
          </a:prstGeom>
          <a:noFill/>
        </p:spPr>
        <p:txBody>
          <a:bodyPr wrap="square" lIns="73152" rIns="73152" tIns="54864" bIns="3291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 i="0">
                <a:solidFill>
                  <a:srgbClr val="6F7D70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0" y="2240280"/>
            <a:ext cx="1078992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02352" y="2331720"/>
            <a:ext cx="932688" cy="310896"/>
          </a:xfrm>
          <a:prstGeom prst="rect">
            <a:avLst/>
          </a:prstGeom>
          <a:noFill/>
        </p:spPr>
        <p:txBody>
          <a:bodyPr wrap="square" lIns="73152" rIns="73152" tIns="54864" bIns="3291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1" i="0">
                <a:solidFill>
                  <a:srgbClr val="152016"/>
                </a:solidFill>
                <a:latin typeface="Aptos"/>
              </a:rPr>
              <a:t>Human
evaluates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" y="3749039"/>
            <a:ext cx="1051560" cy="201168"/>
          </a:xfrm>
          <a:prstGeom prst="rect">
            <a:avLst/>
          </a:prstGeom>
          <a:noFill/>
        </p:spPr>
        <p:txBody>
          <a:bodyPr wrap="square" lIns="73152" rIns="73152" tIns="54864" bIns="3291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6F7D70"/>
                </a:solidFill>
                <a:latin typeface="Aptos"/>
              </a:rPr>
              <a:t>New web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" y="4069080"/>
            <a:ext cx="1554480" cy="804672"/>
          </a:xfrm>
          <a:prstGeom prst="roundRect">
            <a:avLst/>
          </a:prstGeom>
          <a:solidFill>
            <a:srgbClr val="EDF7EF"/>
          </a:solidFill>
          <a:ln w="12700">
            <a:solidFill>
              <a:srgbClr val="8DBB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" y="4160520"/>
            <a:ext cx="1408176" cy="310896"/>
          </a:xfrm>
          <a:prstGeom prst="rect">
            <a:avLst/>
          </a:prstGeom>
          <a:noFill/>
        </p:spPr>
        <p:txBody>
          <a:bodyPr wrap="square" lIns="73152" rIns="73152" tIns="54864" bIns="3291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1" i="0">
                <a:solidFill>
                  <a:srgbClr val="152016"/>
                </a:solidFill>
                <a:latin typeface="Aptos"/>
              </a:rPr>
              <a:t>LLM / AI agent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87168" y="4315968"/>
            <a:ext cx="310896" cy="256032"/>
          </a:xfrm>
          <a:prstGeom prst="rect">
            <a:avLst/>
          </a:prstGeom>
          <a:noFill/>
        </p:spPr>
        <p:txBody>
          <a:bodyPr wrap="square" lIns="73152" rIns="73152" tIns="54864" bIns="3291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 i="0">
                <a:solidFill>
                  <a:srgbClr val="6F7D70"/>
                </a:solidFill>
                <a:latin typeface="Aptos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0" y="4069080"/>
            <a:ext cx="2788920" cy="804672"/>
          </a:xfrm>
          <a:prstGeom prst="roundRect">
            <a:avLst/>
          </a:prstGeom>
          <a:solidFill>
            <a:srgbClr val="EDF7EF"/>
          </a:solidFill>
          <a:ln w="12700">
            <a:solidFill>
              <a:srgbClr val="8DBB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16352" y="4160520"/>
            <a:ext cx="2642615" cy="310896"/>
          </a:xfrm>
          <a:prstGeom prst="rect">
            <a:avLst/>
          </a:prstGeom>
          <a:noFill/>
        </p:spPr>
        <p:txBody>
          <a:bodyPr wrap="square" lIns="73152" rIns="73152" tIns="54864" bIns="3291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1" i="0">
                <a:solidFill>
                  <a:srgbClr val="152016"/>
                </a:solidFill>
                <a:latin typeface="Aptos"/>
              </a:rPr>
              <a:t>Summarizes / cites / routes / skips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0136" y="4315968"/>
            <a:ext cx="310896" cy="256032"/>
          </a:xfrm>
          <a:prstGeom prst="rect">
            <a:avLst/>
          </a:prstGeom>
          <a:noFill/>
        </p:spPr>
        <p:txBody>
          <a:bodyPr wrap="square" lIns="73152" rIns="73152" tIns="54864" bIns="3291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 i="0">
                <a:solidFill>
                  <a:srgbClr val="6F7D70"/>
                </a:solidFill>
                <a:latin typeface="Aptos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97880" y="4069080"/>
            <a:ext cx="2011680" cy="804672"/>
          </a:xfrm>
          <a:prstGeom prst="roundRect">
            <a:avLst/>
          </a:prstGeom>
          <a:solidFill>
            <a:srgbClr val="EDF7EF"/>
          </a:solidFill>
          <a:ln w="12700">
            <a:solidFill>
              <a:srgbClr val="8DBB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71032" y="4160520"/>
            <a:ext cx="1865376" cy="310896"/>
          </a:xfrm>
          <a:prstGeom prst="rect">
            <a:avLst/>
          </a:prstGeom>
          <a:noFill/>
        </p:spPr>
        <p:txBody>
          <a:bodyPr wrap="square" lIns="73152" rIns="73152" tIns="54864" bIns="3291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1" i="0">
                <a:solidFill>
                  <a:srgbClr val="152016"/>
                </a:solidFill>
                <a:latin typeface="Aptos"/>
              </a:rPr>
              <a:t>Buyer may
never click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412480" y="2057400"/>
            <a:ext cx="297180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613648" y="2267712"/>
            <a:ext cx="1188720" cy="310896"/>
          </a:xfrm>
          <a:prstGeom prst="roundRect">
            <a:avLst/>
          </a:prstGeom>
          <a:solidFill>
            <a:srgbClr val="FBF3D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50224" y="2276856"/>
            <a:ext cx="1115568" cy="237744"/>
          </a:xfrm>
          <a:prstGeom prst="rect">
            <a:avLst/>
          </a:prstGeom>
          <a:noFill/>
        </p:spPr>
        <p:txBody>
          <a:bodyPr wrap="square" lIns="73152" rIns="73152" tIns="54864" bIns="3291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 i="0">
                <a:solidFill>
                  <a:srgbClr val="8A6921"/>
                </a:solidFill>
                <a:latin typeface="Aptos"/>
              </a:rPr>
              <a:t>What changed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13648" y="2651760"/>
            <a:ext cx="2578608" cy="777240"/>
          </a:xfrm>
          <a:prstGeom prst="rect">
            <a:avLst/>
          </a:prstGeom>
          <a:noFill/>
        </p:spPr>
        <p:txBody>
          <a:bodyPr wrap="square" lIns="73152" rIns="73152" tIns="54864" bIns="3291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1" i="0">
                <a:solidFill>
                  <a:srgbClr val="152016"/>
                </a:solidFill>
                <a:latin typeface="Aptos"/>
              </a:rPr>
              <a:t>A new machine-facing GTM layer now sits before the website experience.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13648" y="3547872"/>
            <a:ext cx="2578608" cy="320040"/>
          </a:xfrm>
          <a:prstGeom prst="rect">
            <a:avLst/>
          </a:prstGeom>
          <a:noFill/>
        </p:spPr>
        <p:txBody>
          <a:bodyPr wrap="square" lIns="73152" rIns="73152" tIns="54864" bIns="3291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40" b="0" i="0">
                <a:solidFill>
                  <a:srgbClr val="49564A"/>
                </a:solidFill>
                <a:latin typeface="Aptos"/>
              </a:rPr>
              <a:t>• AI-generated summaries can frame the company before the buyer visits the site.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13648" y="3959352"/>
            <a:ext cx="2578608" cy="320040"/>
          </a:xfrm>
          <a:prstGeom prst="rect">
            <a:avLst/>
          </a:prstGeom>
          <a:noFill/>
        </p:spPr>
        <p:txBody>
          <a:bodyPr wrap="square" lIns="73152" rIns="73152" tIns="54864" bIns="3291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40" b="0" i="0">
                <a:solidFill>
                  <a:srgbClr val="49564A"/>
                </a:solidFill>
                <a:latin typeface="Aptos"/>
              </a:rPr>
              <a:t>• Answer engines can cite, compare, route, or skip a company with no click at all.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13648" y="4370832"/>
            <a:ext cx="2578608" cy="320040"/>
          </a:xfrm>
          <a:prstGeom prst="rect">
            <a:avLst/>
          </a:prstGeom>
          <a:noFill/>
        </p:spPr>
        <p:txBody>
          <a:bodyPr wrap="square" lIns="73152" rIns="73152" tIns="54864" bIns="3291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40" b="0" i="0">
                <a:solidFill>
                  <a:srgbClr val="49564A"/>
                </a:solidFill>
                <a:latin typeface="Aptos"/>
              </a:rPr>
              <a:t>• Most enterprises do not yet inspect or manage that layer directly.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4672" y="5742432"/>
            <a:ext cx="10588752" cy="502920"/>
          </a:xfrm>
          <a:prstGeom prst="roundRect">
            <a:avLst/>
          </a:prstGeom>
          <a:solidFill>
            <a:srgbClr val="DFF2E5"/>
          </a:solidFill>
          <a:ln w="12700">
            <a:solidFill>
              <a:srgbClr val="DFF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5879592"/>
            <a:ext cx="10332720" cy="201168"/>
          </a:xfrm>
          <a:prstGeom prst="rect">
            <a:avLst/>
          </a:prstGeom>
          <a:noFill/>
        </p:spPr>
        <p:txBody>
          <a:bodyPr wrap="square" lIns="73152" rIns="73152" tIns="54864" bIns="32918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1" i="0">
                <a:solidFill>
                  <a:srgbClr val="2D6D45"/>
                </a:solidFill>
                <a:latin typeface="Aptos"/>
              </a:rPr>
              <a:t>If AI systems shape perception before the click, visibility risk moves upstream.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48288" y="6400800"/>
            <a:ext cx="320040" cy="201168"/>
          </a:xfrm>
          <a:prstGeom prst="rect">
            <a:avLst/>
          </a:prstGeom>
          <a:noFill/>
        </p:spPr>
        <p:txBody>
          <a:bodyPr wrap="square" lIns="73152" rIns="73152" tIns="54864" bIns="32918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50" b="0" i="0">
                <a:solidFill>
                  <a:srgbClr val="6F7D70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15400" y="-137160"/>
            <a:ext cx="2834640" cy="2194560"/>
          </a:xfrm>
          <a:prstGeom prst="ellipse">
            <a:avLst/>
          </a:prstGeom>
          <a:solidFill>
            <a:srgbClr val="DFF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548640" y="-182880"/>
            <a:ext cx="3108960" cy="1920240"/>
          </a:xfrm>
          <a:prstGeom prst="ellipse">
            <a:avLst/>
          </a:prstGeom>
          <a:solidFill>
            <a:srgbClr val="8DB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818120" y="4983480"/>
            <a:ext cx="2926080" cy="1371600"/>
          </a:xfrm>
          <a:prstGeom prst="ellipse">
            <a:avLst/>
          </a:prstGeom>
          <a:solidFill>
            <a:srgbClr val="3E8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20624"/>
            <a:ext cx="1097280" cy="310896"/>
          </a:xfrm>
          <a:prstGeom prst="roundRect">
            <a:avLst/>
          </a:prstGeom>
          <a:solidFill>
            <a:srgbClr val="DFF2E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" y="429768"/>
            <a:ext cx="1024127" cy="237744"/>
          </a:xfrm>
          <a:prstGeom prst="rect">
            <a:avLst/>
          </a:prstGeom>
          <a:noFill/>
        </p:spPr>
        <p:txBody>
          <a:bodyPr wrap="square" lIns="73152" rIns="73152" tIns="54864" bIns="3291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 i="0">
                <a:solidFill>
                  <a:srgbClr val="2D6D45"/>
                </a:solidFill>
                <a:latin typeface="Aptos"/>
              </a:rPr>
              <a:t>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868680"/>
            <a:ext cx="10149840" cy="640080"/>
          </a:xfrm>
          <a:prstGeom prst="rect">
            <a:avLst/>
          </a:prstGeom>
          <a:noFill/>
        </p:spPr>
        <p:txBody>
          <a:bodyPr wrap="square" lIns="73152" rIns="73152" tIns="54864" bIns="3291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152016"/>
                </a:solidFill>
                <a:latin typeface="Aptos"/>
              </a:rPr>
              <a:t>Most enterprise websites were built for humans, not machine-mediated buyers.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389888"/>
            <a:ext cx="10241280" cy="384048"/>
          </a:xfrm>
          <a:prstGeom prst="rect">
            <a:avLst/>
          </a:prstGeom>
          <a:noFill/>
        </p:spPr>
        <p:txBody>
          <a:bodyPr wrap="square" lIns="73152" rIns="73152" tIns="54864" bIns="3291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49564A"/>
                </a:solidFill>
                <a:latin typeface="Aptos"/>
              </a:rPr>
              <a:t>The result is not just discoverability risk, but interpretation, citation, and routing risk.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" y="1920240"/>
            <a:ext cx="2578608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69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32688" y="2029968"/>
            <a:ext cx="1668780" cy="310896"/>
          </a:xfrm>
          <a:prstGeom prst="roundRect">
            <a:avLst/>
          </a:prstGeom>
          <a:solidFill>
            <a:srgbClr val="FDEEE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" y="2039112"/>
            <a:ext cx="1595628" cy="237744"/>
          </a:xfrm>
          <a:prstGeom prst="rect">
            <a:avLst/>
          </a:prstGeom>
          <a:noFill/>
        </p:spPr>
        <p:txBody>
          <a:bodyPr wrap="square" lIns="73152" rIns="73152" tIns="54864" bIns="3291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 i="0">
                <a:solidFill>
                  <a:srgbClr val="9B4D41"/>
                </a:solidFill>
                <a:latin typeface="Aptos"/>
              </a:rPr>
              <a:t>Misclassification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2432304"/>
            <a:ext cx="2249424" cy="384048"/>
          </a:xfrm>
          <a:prstGeom prst="rect">
            <a:avLst/>
          </a:prstGeom>
          <a:noFill/>
        </p:spPr>
        <p:txBody>
          <a:bodyPr wrap="square" lIns="73152" rIns="73152" tIns="54864" bIns="3291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49564A"/>
                </a:solidFill>
                <a:latin typeface="Aptos"/>
              </a:rPr>
              <a:t>• Category framing is often implicit.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" y="2779776"/>
            <a:ext cx="2249424" cy="384048"/>
          </a:xfrm>
          <a:prstGeom prst="rect">
            <a:avLst/>
          </a:prstGeom>
          <a:noFill/>
        </p:spPr>
        <p:txBody>
          <a:bodyPr wrap="square" lIns="73152" rIns="73152" tIns="54864" bIns="3291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49564A"/>
                </a:solidFill>
                <a:latin typeface="Aptos"/>
              </a:rPr>
              <a:t>• Models can flatten the company into a broader label.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66160" y="1920240"/>
            <a:ext cx="2578608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A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694176" y="2029968"/>
            <a:ext cx="1668780" cy="310896"/>
          </a:xfrm>
          <a:prstGeom prst="roundRect">
            <a:avLst/>
          </a:prstGeom>
          <a:solidFill>
            <a:srgbClr val="FBF3D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0752" y="2039112"/>
            <a:ext cx="1595628" cy="237744"/>
          </a:xfrm>
          <a:prstGeom prst="rect">
            <a:avLst/>
          </a:prstGeom>
          <a:noFill/>
        </p:spPr>
        <p:txBody>
          <a:bodyPr wrap="square" lIns="73152" rIns="73152" tIns="54864" bIns="3291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 i="0">
                <a:solidFill>
                  <a:srgbClr val="8A6921"/>
                </a:solidFill>
                <a:latin typeface="Aptos"/>
              </a:rPr>
              <a:t>Citation weakness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0752" y="2432304"/>
            <a:ext cx="2249424" cy="384048"/>
          </a:xfrm>
          <a:prstGeom prst="rect">
            <a:avLst/>
          </a:prstGeom>
          <a:noFill/>
        </p:spPr>
        <p:txBody>
          <a:bodyPr wrap="square" lIns="73152" rIns="73152" tIns="54864" bIns="3291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49564A"/>
                </a:solidFill>
                <a:latin typeface="Aptos"/>
              </a:rPr>
              <a:t>• Proof exists, but is not packaged for reuse.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30752" y="2779776"/>
            <a:ext cx="2249424" cy="384048"/>
          </a:xfrm>
          <a:prstGeom prst="rect">
            <a:avLst/>
          </a:prstGeom>
          <a:noFill/>
        </p:spPr>
        <p:txBody>
          <a:bodyPr wrap="square" lIns="73152" rIns="73152" tIns="54864" bIns="3291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49564A"/>
                </a:solidFill>
                <a:latin typeface="Aptos"/>
              </a:rPr>
              <a:t>• Claims may be paraphrased without strong support.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27648" y="1920240"/>
            <a:ext cx="2578608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DBB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55664" y="2029968"/>
            <a:ext cx="1943100" cy="310896"/>
          </a:xfrm>
          <a:prstGeom prst="roundRect">
            <a:avLst/>
          </a:prstGeom>
          <a:solidFill>
            <a:srgbClr val="EDF7E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2039112"/>
            <a:ext cx="1869948" cy="237744"/>
          </a:xfrm>
          <a:prstGeom prst="rect">
            <a:avLst/>
          </a:prstGeom>
          <a:noFill/>
        </p:spPr>
        <p:txBody>
          <a:bodyPr wrap="square" lIns="73152" rIns="73152" tIns="54864" bIns="3291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 i="0">
                <a:solidFill>
                  <a:srgbClr val="2D6D45"/>
                </a:solidFill>
                <a:latin typeface="Aptos"/>
              </a:rPr>
              <a:t>Agent journey blocker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432304"/>
            <a:ext cx="2249424" cy="384048"/>
          </a:xfrm>
          <a:prstGeom prst="rect">
            <a:avLst/>
          </a:prstGeom>
          <a:noFill/>
        </p:spPr>
        <p:txBody>
          <a:bodyPr wrap="square" lIns="73152" rIns="73152" tIns="54864" bIns="3291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49564A"/>
                </a:solidFill>
                <a:latin typeface="Aptos"/>
              </a:rPr>
              <a:t>• Buyer routing is fragmented.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779776"/>
            <a:ext cx="2249424" cy="384048"/>
          </a:xfrm>
          <a:prstGeom prst="rect">
            <a:avLst/>
          </a:prstGeom>
          <a:noFill/>
        </p:spPr>
        <p:txBody>
          <a:bodyPr wrap="square" lIns="73152" rIns="73152" tIns="54864" bIns="3291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49564A"/>
                </a:solidFill>
                <a:latin typeface="Aptos"/>
              </a:rPr>
              <a:t>• The next best action is not always machine-clear.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89136" y="1920240"/>
            <a:ext cx="22860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217152" y="2029968"/>
            <a:ext cx="1737360" cy="310896"/>
          </a:xfrm>
          <a:prstGeom prst="roundRect">
            <a:avLst/>
          </a:prstGeom>
          <a:solidFill>
            <a:srgbClr val="DFF2E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53728" y="2039112"/>
            <a:ext cx="1664207" cy="237744"/>
          </a:xfrm>
          <a:prstGeom prst="rect">
            <a:avLst/>
          </a:prstGeom>
          <a:noFill/>
        </p:spPr>
        <p:txBody>
          <a:bodyPr wrap="square" lIns="73152" rIns="73152" tIns="54864" bIns="3291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 i="0">
                <a:solidFill>
                  <a:srgbClr val="2D6D45"/>
                </a:solidFill>
                <a:latin typeface="Aptos"/>
              </a:rPr>
              <a:t>Buyer routing risk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53728" y="2432304"/>
            <a:ext cx="1956816" cy="384048"/>
          </a:xfrm>
          <a:prstGeom prst="rect">
            <a:avLst/>
          </a:prstGeom>
          <a:noFill/>
        </p:spPr>
        <p:txBody>
          <a:bodyPr wrap="square" lIns="73152" rIns="73152" tIns="54864" bIns="3291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49564A"/>
                </a:solidFill>
                <a:latin typeface="Aptos"/>
              </a:rPr>
              <a:t>• Machines may miss the right path.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53728" y="2779776"/>
            <a:ext cx="1956816" cy="384048"/>
          </a:xfrm>
          <a:prstGeom prst="rect">
            <a:avLst/>
          </a:prstGeom>
          <a:noFill/>
        </p:spPr>
        <p:txBody>
          <a:bodyPr wrap="square" lIns="73152" rIns="73152" tIns="54864" bIns="3291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49564A"/>
                </a:solidFill>
                <a:latin typeface="Aptos"/>
              </a:rPr>
              <a:t>• Good products can still be skipped.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2" y="3913632"/>
            <a:ext cx="10570464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4160520"/>
            <a:ext cx="10149840" cy="329184"/>
          </a:xfrm>
          <a:prstGeom prst="rect">
            <a:avLst/>
          </a:prstGeom>
          <a:noFill/>
        </p:spPr>
        <p:txBody>
          <a:bodyPr wrap="square" lIns="73152" rIns="73152" tIns="54864" bIns="3291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6F7D70"/>
                </a:solidFill>
                <a:latin typeface="Aptos"/>
              </a:rPr>
              <a:t>What enterprises risk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4480560"/>
            <a:ext cx="10058400" cy="566928"/>
          </a:xfrm>
          <a:prstGeom prst="rect">
            <a:avLst/>
          </a:prstGeom>
          <a:noFill/>
        </p:spPr>
        <p:txBody>
          <a:bodyPr wrap="square" lIns="73152" rIns="73152" tIns="54864" bIns="3291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152016"/>
                </a:solidFill>
                <a:latin typeface="Aptos"/>
              </a:rPr>
              <a:t>A company can be directionally legible to humans and still weakly interpreted by AI systems that summarize, compare, and route buyer intent.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4672" y="5623560"/>
            <a:ext cx="10570464" cy="512064"/>
          </a:xfrm>
          <a:prstGeom prst="roundRect">
            <a:avLst/>
          </a:prstGeom>
          <a:solidFill>
            <a:srgbClr val="FDEEEA"/>
          </a:solidFill>
          <a:ln w="12700">
            <a:solidFill>
              <a:srgbClr val="FD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760720"/>
            <a:ext cx="10287000" cy="201168"/>
          </a:xfrm>
          <a:prstGeom prst="rect">
            <a:avLst/>
          </a:prstGeom>
          <a:noFill/>
        </p:spPr>
        <p:txBody>
          <a:bodyPr wrap="square" lIns="73152" rIns="73152" tIns="54864" bIns="32918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40" b="1" i="0">
                <a:solidFill>
                  <a:srgbClr val="9B4D41"/>
                </a:solidFill>
                <a:latin typeface="Aptos"/>
              </a:rPr>
              <a:t>This is not a ranking problem alone. It is an interpretation, citation, and routing problem.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48288" y="6400800"/>
            <a:ext cx="320040" cy="201168"/>
          </a:xfrm>
          <a:prstGeom prst="rect">
            <a:avLst/>
          </a:prstGeom>
          <a:noFill/>
        </p:spPr>
        <p:txBody>
          <a:bodyPr wrap="square" lIns="73152" rIns="73152" tIns="54864" bIns="32918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50" b="0" i="0">
                <a:solidFill>
                  <a:srgbClr val="6F7D70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15400" y="-137160"/>
            <a:ext cx="2834640" cy="2194560"/>
          </a:xfrm>
          <a:prstGeom prst="ellipse">
            <a:avLst/>
          </a:prstGeom>
          <a:solidFill>
            <a:srgbClr val="DFF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548640" y="-182880"/>
            <a:ext cx="3108960" cy="1920240"/>
          </a:xfrm>
          <a:prstGeom prst="ellipse">
            <a:avLst/>
          </a:prstGeom>
          <a:solidFill>
            <a:srgbClr val="8DB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818120" y="4983480"/>
            <a:ext cx="2926080" cy="1371600"/>
          </a:xfrm>
          <a:prstGeom prst="ellipse">
            <a:avLst/>
          </a:prstGeom>
          <a:solidFill>
            <a:srgbClr val="3E8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20624"/>
            <a:ext cx="1097280" cy="310896"/>
          </a:xfrm>
          <a:prstGeom prst="roundRect">
            <a:avLst/>
          </a:prstGeom>
          <a:solidFill>
            <a:srgbClr val="DFF2E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" y="429768"/>
            <a:ext cx="1024127" cy="237744"/>
          </a:xfrm>
          <a:prstGeom prst="rect">
            <a:avLst/>
          </a:prstGeom>
          <a:noFill/>
        </p:spPr>
        <p:txBody>
          <a:bodyPr wrap="square" lIns="73152" rIns="73152" tIns="54864" bIns="3291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 i="0">
                <a:solidFill>
                  <a:srgbClr val="2D6D45"/>
                </a:solidFill>
                <a:latin typeface="Aptos"/>
              </a:rPr>
              <a:t>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868680"/>
            <a:ext cx="10149840" cy="640080"/>
          </a:xfrm>
          <a:prstGeom prst="rect">
            <a:avLst/>
          </a:prstGeom>
          <a:noFill/>
        </p:spPr>
        <p:txBody>
          <a:bodyPr wrap="square" lIns="73152" rIns="73152" tIns="54864" bIns="3291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152016"/>
                </a:solidFill>
                <a:latin typeface="Aptos"/>
              </a:rPr>
              <a:t>One URL in. A boardroom-ready AI Visibility Brief and Fix Pack out.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389888"/>
            <a:ext cx="10241280" cy="384048"/>
          </a:xfrm>
          <a:prstGeom prst="rect">
            <a:avLst/>
          </a:prstGeom>
          <a:noFill/>
        </p:spPr>
        <p:txBody>
          <a:bodyPr wrap="square" lIns="73152" rIns="73152" tIns="54864" bIns="3291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49564A"/>
                </a:solidFill>
                <a:latin typeface="Aptos"/>
              </a:rPr>
              <a:t>A bounded Gemini workflow with visible artifacts and evidence-constrained outputs, not a fake autonomous swarm.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194560"/>
            <a:ext cx="1170432" cy="786384"/>
          </a:xfrm>
          <a:prstGeom prst="roundRect">
            <a:avLst/>
          </a:prstGeom>
          <a:solidFill>
            <a:srgbClr val="DFF2E5"/>
          </a:solidFill>
          <a:ln w="12700">
            <a:solidFill>
              <a:srgbClr val="3E8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2286000"/>
            <a:ext cx="1024128" cy="310896"/>
          </a:xfrm>
          <a:prstGeom prst="rect">
            <a:avLst/>
          </a:prstGeom>
          <a:noFill/>
        </p:spPr>
        <p:txBody>
          <a:bodyPr wrap="square" lIns="73152" rIns="73152" tIns="54864" bIns="3291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1" i="0">
                <a:solidFill>
                  <a:srgbClr val="2D6D45"/>
                </a:solidFill>
                <a:latin typeface="Aptos"/>
              </a:rPr>
              <a:t>Website URL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578608"/>
            <a:ext cx="950976" cy="329184"/>
          </a:xfrm>
          <a:prstGeom prst="rect">
            <a:avLst/>
          </a:prstGeom>
          <a:noFill/>
        </p:spPr>
        <p:txBody>
          <a:bodyPr wrap="square" lIns="73152" rIns="73152" tIns="54864" bIns="3291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0" i="0">
                <a:solidFill>
                  <a:srgbClr val="49564A"/>
                </a:solidFill>
                <a:latin typeface="Aptos"/>
              </a:rPr>
              <a:t>Single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29968" y="2423160"/>
            <a:ext cx="310896" cy="256032"/>
          </a:xfrm>
          <a:prstGeom prst="rect">
            <a:avLst/>
          </a:prstGeom>
          <a:noFill/>
        </p:spPr>
        <p:txBody>
          <a:bodyPr wrap="square" lIns="73152" rIns="73152" tIns="54864" bIns="3291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 i="0">
                <a:solidFill>
                  <a:srgbClr val="6F7D70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59152" y="1938528"/>
            <a:ext cx="1353312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32304" y="2029968"/>
            <a:ext cx="1207008" cy="310896"/>
          </a:xfrm>
          <a:prstGeom prst="rect">
            <a:avLst/>
          </a:prstGeom>
          <a:noFill/>
        </p:spPr>
        <p:txBody>
          <a:bodyPr wrap="square" lIns="73152" rIns="73152" tIns="54864" bIns="3291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1" i="0">
                <a:solidFill>
                  <a:srgbClr val="152016"/>
                </a:solidFill>
                <a:latin typeface="Aptos"/>
              </a:rPr>
              <a:t>Website
Context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2322576"/>
            <a:ext cx="1133856" cy="420623"/>
          </a:xfrm>
          <a:prstGeom prst="rect">
            <a:avLst/>
          </a:prstGeom>
          <a:noFill/>
        </p:spPr>
        <p:txBody>
          <a:bodyPr wrap="square" lIns="73152" rIns="73152" tIns="54864" bIns="3291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0" i="0">
                <a:solidFill>
                  <a:srgbClr val="49564A"/>
                </a:solidFill>
                <a:latin typeface="Aptos"/>
              </a:rPr>
              <a:t>Site facts captured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76472" y="2231136"/>
            <a:ext cx="310896" cy="256032"/>
          </a:xfrm>
          <a:prstGeom prst="rect">
            <a:avLst/>
          </a:prstGeom>
          <a:noFill/>
        </p:spPr>
        <p:txBody>
          <a:bodyPr wrap="square" lIns="73152" rIns="73152" tIns="54864" bIns="3291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 i="0">
                <a:solidFill>
                  <a:srgbClr val="6F7D70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96512" y="1938528"/>
            <a:ext cx="1353312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69664" y="2029968"/>
            <a:ext cx="1207008" cy="310896"/>
          </a:xfrm>
          <a:prstGeom prst="rect">
            <a:avLst/>
          </a:prstGeom>
          <a:noFill/>
        </p:spPr>
        <p:txBody>
          <a:bodyPr wrap="square" lIns="73152" rIns="73152" tIns="54864" bIns="3291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1" i="0">
                <a:solidFill>
                  <a:srgbClr val="152016"/>
                </a:solidFill>
                <a:latin typeface="Aptos"/>
              </a:rPr>
              <a:t>LLM
Perception 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2322576"/>
            <a:ext cx="1133856" cy="420623"/>
          </a:xfrm>
          <a:prstGeom prst="rect">
            <a:avLst/>
          </a:prstGeom>
          <a:noFill/>
        </p:spPr>
        <p:txBody>
          <a:bodyPr wrap="square" lIns="73152" rIns="73152" tIns="54864" bIns="3291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0" i="0">
                <a:solidFill>
                  <a:srgbClr val="49564A"/>
                </a:solidFill>
                <a:latin typeface="Aptos"/>
              </a:rPr>
              <a:t>Likely machine summary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13832" y="2231136"/>
            <a:ext cx="310896" cy="256032"/>
          </a:xfrm>
          <a:prstGeom prst="rect">
            <a:avLst/>
          </a:prstGeom>
          <a:noFill/>
        </p:spPr>
        <p:txBody>
          <a:bodyPr wrap="square" lIns="73152" rIns="73152" tIns="54864" bIns="3291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 i="0">
                <a:solidFill>
                  <a:srgbClr val="6F7D70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33872" y="1938528"/>
            <a:ext cx="1353312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07024" y="2029968"/>
            <a:ext cx="1207008" cy="310896"/>
          </a:xfrm>
          <a:prstGeom prst="rect">
            <a:avLst/>
          </a:prstGeom>
          <a:noFill/>
        </p:spPr>
        <p:txBody>
          <a:bodyPr wrap="square" lIns="73152" rIns="73152" tIns="54864" bIns="3291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1" i="0">
                <a:solidFill>
                  <a:srgbClr val="152016"/>
                </a:solidFill>
                <a:latin typeface="Aptos"/>
              </a:rPr>
              <a:t>Agent
Visitor Agent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2322576"/>
            <a:ext cx="1133856" cy="420623"/>
          </a:xfrm>
          <a:prstGeom prst="rect">
            <a:avLst/>
          </a:prstGeom>
          <a:noFill/>
        </p:spPr>
        <p:txBody>
          <a:bodyPr wrap="square" lIns="73152" rIns="73152" tIns="54864" bIns="3291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0" i="0">
                <a:solidFill>
                  <a:srgbClr val="49564A"/>
                </a:solidFill>
                <a:latin typeface="Aptos"/>
              </a:rPr>
              <a:t>Journey blockers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51192" y="2231136"/>
            <a:ext cx="310896" cy="256032"/>
          </a:xfrm>
          <a:prstGeom prst="rect">
            <a:avLst/>
          </a:prstGeom>
          <a:noFill/>
        </p:spPr>
        <p:txBody>
          <a:bodyPr wrap="square" lIns="73152" rIns="73152" tIns="54864" bIns="3291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 i="0">
                <a:solidFill>
                  <a:srgbClr val="6F7D70"/>
                </a:solidFill>
                <a:latin typeface="Aptos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71231" y="1938528"/>
            <a:ext cx="1444752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44383" y="2029968"/>
            <a:ext cx="1298448" cy="310896"/>
          </a:xfrm>
          <a:prstGeom prst="rect">
            <a:avLst/>
          </a:prstGeom>
          <a:noFill/>
        </p:spPr>
        <p:txBody>
          <a:bodyPr wrap="square" lIns="73152" rIns="73152" tIns="54864" bIns="3291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1" i="0">
                <a:solidFill>
                  <a:srgbClr val="152016"/>
                </a:solidFill>
                <a:latin typeface="Aptos"/>
              </a:rPr>
              <a:t>AIO / Answer
Engine Agent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59" y="2322576"/>
            <a:ext cx="1225296" cy="420623"/>
          </a:xfrm>
          <a:prstGeom prst="rect">
            <a:avLst/>
          </a:prstGeom>
          <a:noFill/>
        </p:spPr>
        <p:txBody>
          <a:bodyPr wrap="square" lIns="73152" rIns="73152" tIns="54864" bIns="3291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0" i="0">
                <a:solidFill>
                  <a:srgbClr val="49564A"/>
                </a:solidFill>
                <a:latin typeface="Aptos"/>
              </a:rPr>
              <a:t>Answer-surface findings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16568" y="2231136"/>
            <a:ext cx="310896" cy="256032"/>
          </a:xfrm>
          <a:prstGeom prst="rect">
            <a:avLst/>
          </a:prstGeom>
          <a:noFill/>
        </p:spPr>
        <p:txBody>
          <a:bodyPr wrap="square" lIns="73152" rIns="73152" tIns="54864" bIns="3291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 i="0">
                <a:solidFill>
                  <a:srgbClr val="6F7D70"/>
                </a:solidFill>
                <a:latin typeface="Aptos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36608" y="1938528"/>
            <a:ext cx="1444752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09760" y="2029968"/>
            <a:ext cx="1298448" cy="310896"/>
          </a:xfrm>
          <a:prstGeom prst="rect">
            <a:avLst/>
          </a:prstGeom>
          <a:noFill/>
        </p:spPr>
        <p:txBody>
          <a:bodyPr wrap="square" lIns="73152" rIns="73152" tIns="54864" bIns="3291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1" i="0">
                <a:solidFill>
                  <a:srgbClr val="152016"/>
                </a:solidFill>
                <a:latin typeface="Aptos"/>
              </a:rPr>
              <a:t>Citation
Readiness Agent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46336" y="2322576"/>
            <a:ext cx="1225296" cy="420623"/>
          </a:xfrm>
          <a:prstGeom prst="rect">
            <a:avLst/>
          </a:prstGeom>
          <a:noFill/>
        </p:spPr>
        <p:txBody>
          <a:bodyPr wrap="square" lIns="73152" rIns="73152" tIns="54864" bIns="3291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0" i="0">
                <a:solidFill>
                  <a:srgbClr val="49564A"/>
                </a:solidFill>
                <a:latin typeface="Aptos"/>
              </a:rPr>
              <a:t>Evidence gaps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63656" y="2231136"/>
            <a:ext cx="310896" cy="256032"/>
          </a:xfrm>
          <a:prstGeom prst="rect">
            <a:avLst/>
          </a:prstGeom>
          <a:noFill/>
        </p:spPr>
        <p:txBody>
          <a:bodyPr wrap="square" lIns="73152" rIns="73152" tIns="54864" bIns="3291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 i="0">
                <a:solidFill>
                  <a:srgbClr val="6F7D70"/>
                </a:solidFill>
                <a:latin typeface="Aptos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436608" y="3419856"/>
            <a:ext cx="1444752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09760" y="3511296"/>
            <a:ext cx="1298448" cy="310896"/>
          </a:xfrm>
          <a:prstGeom prst="rect">
            <a:avLst/>
          </a:prstGeom>
          <a:noFill/>
        </p:spPr>
        <p:txBody>
          <a:bodyPr wrap="square" lIns="73152" rIns="73152" tIns="54864" bIns="3291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1" i="0">
                <a:solidFill>
                  <a:srgbClr val="152016"/>
                </a:solidFill>
                <a:latin typeface="Aptos"/>
              </a:rPr>
              <a:t>Fix
Prioritization Agent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46336" y="3803904"/>
            <a:ext cx="1225296" cy="420623"/>
          </a:xfrm>
          <a:prstGeom prst="rect">
            <a:avLst/>
          </a:prstGeom>
          <a:noFill/>
        </p:spPr>
        <p:txBody>
          <a:bodyPr wrap="square" lIns="73152" rIns="73152" tIns="54864" bIns="3291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0" i="0">
                <a:solidFill>
                  <a:srgbClr val="49564A"/>
                </a:solidFill>
                <a:latin typeface="Aptos"/>
              </a:rPr>
              <a:t>Top actions + Fix Pack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77272" y="2907792"/>
            <a:ext cx="256032" cy="384048"/>
          </a:xfrm>
          <a:prstGeom prst="rect">
            <a:avLst/>
          </a:prstGeom>
          <a:noFill/>
        </p:spPr>
        <p:txBody>
          <a:bodyPr wrap="square" lIns="73152" rIns="73152" tIns="54864" bIns="3291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 i="0">
                <a:solidFill>
                  <a:srgbClr val="6F7D70"/>
                </a:solidFill>
                <a:latin typeface="Aptos"/>
              </a:rPr>
              <a:t>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16568" y="3703320"/>
            <a:ext cx="310896" cy="256032"/>
          </a:xfrm>
          <a:prstGeom prst="rect">
            <a:avLst/>
          </a:prstGeom>
          <a:noFill/>
        </p:spPr>
        <p:txBody>
          <a:bodyPr wrap="square" lIns="73152" rIns="73152" tIns="54864" bIns="3291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 i="0">
                <a:solidFill>
                  <a:srgbClr val="6F7D70"/>
                </a:solidFill>
                <a:latin typeface="Aptos"/>
              </a:rPr>
              <a:t>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16952" y="3703320"/>
            <a:ext cx="310896" cy="256032"/>
          </a:xfrm>
          <a:prstGeom prst="rect">
            <a:avLst/>
          </a:prstGeom>
          <a:noFill/>
        </p:spPr>
        <p:txBody>
          <a:bodyPr wrap="square" lIns="73152" rIns="73152" tIns="54864" bIns="3291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 i="0">
                <a:solidFill>
                  <a:srgbClr val="6F7D70"/>
                </a:solidFill>
                <a:latin typeface="Aptos"/>
              </a:rPr>
              <a:t>←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016752" y="3419856"/>
            <a:ext cx="2697480" cy="877824"/>
          </a:xfrm>
          <a:prstGeom prst="roundRect">
            <a:avLst/>
          </a:prstGeom>
          <a:solidFill>
            <a:srgbClr val="DFF2E5"/>
          </a:solidFill>
          <a:ln w="12700">
            <a:solidFill>
              <a:srgbClr val="3E8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89904" y="3511296"/>
            <a:ext cx="2551176" cy="310896"/>
          </a:xfrm>
          <a:prstGeom prst="rect">
            <a:avLst/>
          </a:prstGeom>
          <a:noFill/>
        </p:spPr>
        <p:txBody>
          <a:bodyPr wrap="square" lIns="73152" rIns="73152" tIns="54864" bIns="3291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1" i="0">
                <a:solidFill>
                  <a:srgbClr val="2D6D45"/>
                </a:solidFill>
                <a:latin typeface="Aptos"/>
              </a:rPr>
              <a:t>AI Visibility Readiness Brief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26480" y="3803904"/>
            <a:ext cx="2478024" cy="420623"/>
          </a:xfrm>
          <a:prstGeom prst="rect">
            <a:avLst/>
          </a:prstGeom>
          <a:noFill/>
        </p:spPr>
        <p:txBody>
          <a:bodyPr wrap="square" lIns="73152" rIns="73152" tIns="54864" bIns="3291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0" i="0">
                <a:solidFill>
                  <a:srgbClr val="49564A"/>
                </a:solidFill>
                <a:latin typeface="Aptos"/>
              </a:rPr>
              <a:t>Executive Verdict | Boardroom Snapshot | Decision Memo | Fix Pack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04672" y="5047488"/>
            <a:ext cx="6629400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960120" y="5285232"/>
            <a:ext cx="1627632" cy="310896"/>
          </a:xfrm>
          <a:prstGeom prst="roundRect">
            <a:avLst/>
          </a:prstGeom>
          <a:solidFill>
            <a:srgbClr val="DFF2E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96696" y="5294376"/>
            <a:ext cx="1554480" cy="237744"/>
          </a:xfrm>
          <a:prstGeom prst="rect">
            <a:avLst/>
          </a:prstGeom>
          <a:noFill/>
        </p:spPr>
        <p:txBody>
          <a:bodyPr wrap="square" lIns="73152" rIns="73152" tIns="54864" bIns="3291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 i="0">
                <a:solidFill>
                  <a:srgbClr val="2D6D45"/>
                </a:solidFill>
                <a:latin typeface="Aptos"/>
              </a:rPr>
              <a:t>Workflow design principles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32688" y="5605272"/>
            <a:ext cx="2143353" cy="310896"/>
          </a:xfrm>
          <a:prstGeom prst="roundRect">
            <a:avLst/>
          </a:prstGeom>
          <a:solidFill>
            <a:srgbClr val="EDF7E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69264" y="5614416"/>
            <a:ext cx="2070201" cy="237744"/>
          </a:xfrm>
          <a:prstGeom prst="rect">
            <a:avLst/>
          </a:prstGeom>
          <a:noFill/>
        </p:spPr>
        <p:txBody>
          <a:bodyPr wrap="square" lIns="73152" rIns="73152" tIns="54864" bIns="3291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 i="0">
                <a:solidFill>
                  <a:srgbClr val="2D6D45"/>
                </a:solidFill>
                <a:latin typeface="Aptos"/>
              </a:rPr>
              <a:t>Bounded public-web scan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185769" y="5605272"/>
            <a:ext cx="2468880" cy="310896"/>
          </a:xfrm>
          <a:prstGeom prst="roundRect">
            <a:avLst/>
          </a:prstGeom>
          <a:solidFill>
            <a:srgbClr val="EDF7E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222345" y="5614416"/>
            <a:ext cx="2395728" cy="237744"/>
          </a:xfrm>
          <a:prstGeom prst="rect">
            <a:avLst/>
          </a:prstGeom>
          <a:noFill/>
        </p:spPr>
        <p:txBody>
          <a:bodyPr wrap="square" lIns="73152" rIns="73152" tIns="54864" bIns="3291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 i="0">
                <a:solidFill>
                  <a:srgbClr val="2D6D45"/>
                </a:solidFill>
                <a:latin typeface="Aptos"/>
              </a:rPr>
              <a:t>Typed / inspectable artifacts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32688" y="5952744"/>
            <a:ext cx="2468880" cy="310896"/>
          </a:xfrm>
          <a:prstGeom prst="roundRect">
            <a:avLst/>
          </a:prstGeom>
          <a:solidFill>
            <a:srgbClr val="EDF7E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69264" y="5961888"/>
            <a:ext cx="2395728" cy="237744"/>
          </a:xfrm>
          <a:prstGeom prst="rect">
            <a:avLst/>
          </a:prstGeom>
          <a:noFill/>
        </p:spPr>
        <p:txBody>
          <a:bodyPr wrap="square" lIns="73152" rIns="73152" tIns="54864" bIns="3291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 i="0">
                <a:solidFill>
                  <a:srgbClr val="2D6D45"/>
                </a:solidFill>
                <a:latin typeface="Aptos"/>
              </a:rPr>
              <a:t>Evidence-constrained outputs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511296" y="5952744"/>
            <a:ext cx="2214676" cy="310896"/>
          </a:xfrm>
          <a:prstGeom prst="roundRect">
            <a:avLst/>
          </a:prstGeom>
          <a:solidFill>
            <a:srgbClr val="EDF7E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547872" y="5961888"/>
            <a:ext cx="2141524" cy="237744"/>
          </a:xfrm>
          <a:prstGeom prst="rect">
            <a:avLst/>
          </a:prstGeom>
          <a:noFill/>
        </p:spPr>
        <p:txBody>
          <a:bodyPr wrap="square" lIns="73152" rIns="73152" tIns="54864" bIns="3291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 i="0">
                <a:solidFill>
                  <a:srgbClr val="2D6D45"/>
                </a:solidFill>
                <a:latin typeface="Aptos"/>
              </a:rPr>
              <a:t>No fake autonomous swarm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754112" y="5047488"/>
            <a:ext cx="3621024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DBB95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863840" y="5157216"/>
            <a:ext cx="3401568" cy="658368"/>
          </a:xfrm>
          <a:prstGeom prst="rect">
            <a:avLst/>
          </a:prstGeom>
          <a:noFill/>
        </p:spPr>
        <p:txBody>
          <a:bodyPr wrap="square" lIns="73152" rIns="73152" tIns="54864" bIns="3291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2D6D45"/>
                </a:solidFill>
                <a:latin typeface="Aptos"/>
              </a:rPr>
              <a:t>[INSERT APP SCREENSHOT: Workflow trace]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448288" y="6400800"/>
            <a:ext cx="320040" cy="201168"/>
          </a:xfrm>
          <a:prstGeom prst="rect">
            <a:avLst/>
          </a:prstGeom>
          <a:noFill/>
        </p:spPr>
        <p:txBody>
          <a:bodyPr wrap="square" lIns="73152" rIns="73152" tIns="54864" bIns="32918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50" b="0" i="0">
                <a:solidFill>
                  <a:srgbClr val="6F7D70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15400" y="-137160"/>
            <a:ext cx="2834640" cy="2194560"/>
          </a:xfrm>
          <a:prstGeom prst="ellipse">
            <a:avLst/>
          </a:prstGeom>
          <a:solidFill>
            <a:srgbClr val="DFF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548640" y="-182880"/>
            <a:ext cx="3108960" cy="1920240"/>
          </a:xfrm>
          <a:prstGeom prst="ellipse">
            <a:avLst/>
          </a:prstGeom>
          <a:solidFill>
            <a:srgbClr val="8DB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818120" y="4983480"/>
            <a:ext cx="2926080" cy="1371600"/>
          </a:xfrm>
          <a:prstGeom prst="ellipse">
            <a:avLst/>
          </a:prstGeom>
          <a:solidFill>
            <a:srgbClr val="3E8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20624"/>
            <a:ext cx="1463040" cy="310896"/>
          </a:xfrm>
          <a:prstGeom prst="roundRect">
            <a:avLst/>
          </a:prstGeom>
          <a:solidFill>
            <a:srgbClr val="DFF2E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" y="429768"/>
            <a:ext cx="1389888" cy="237744"/>
          </a:xfrm>
          <a:prstGeom prst="rect">
            <a:avLst/>
          </a:prstGeom>
          <a:noFill/>
        </p:spPr>
        <p:txBody>
          <a:bodyPr wrap="square" lIns="73152" rIns="73152" tIns="54864" bIns="3291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 i="0">
                <a:solidFill>
                  <a:srgbClr val="2D6D45"/>
                </a:solidFill>
                <a:latin typeface="Aptos"/>
              </a:rPr>
              <a:t>Product output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868680"/>
            <a:ext cx="10149840" cy="640080"/>
          </a:xfrm>
          <a:prstGeom prst="rect">
            <a:avLst/>
          </a:prstGeom>
          <a:noFill/>
        </p:spPr>
        <p:txBody>
          <a:bodyPr wrap="square" lIns="73152" rIns="73152" tIns="54864" bIns="3291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152016"/>
                </a:solidFill>
                <a:latin typeface="Aptos"/>
              </a:rPr>
              <a:t>From scan to executive action plan in one 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389888"/>
            <a:ext cx="10241280" cy="384048"/>
          </a:xfrm>
          <a:prstGeom prst="rect">
            <a:avLst/>
          </a:prstGeom>
          <a:noFill/>
        </p:spPr>
        <p:txBody>
          <a:bodyPr wrap="square" lIns="73152" rIns="73152" tIns="54864" bIns="3291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49564A"/>
                </a:solidFill>
                <a:latin typeface="Aptos"/>
              </a:rPr>
              <a:t>What the product actually produces is a real executive work product, not just a model response.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" y="1810512"/>
            <a:ext cx="1715414" cy="310896"/>
          </a:xfrm>
          <a:prstGeom prst="roundRect">
            <a:avLst/>
          </a:prstGeom>
          <a:solidFill>
            <a:srgbClr val="EDF7E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1819656"/>
            <a:ext cx="1642262" cy="237744"/>
          </a:xfrm>
          <a:prstGeom prst="rect">
            <a:avLst/>
          </a:prstGeom>
          <a:noFill/>
        </p:spPr>
        <p:txBody>
          <a:bodyPr wrap="square" lIns="73152" rIns="73152" tIns="54864" bIns="3291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 i="0">
                <a:solidFill>
                  <a:srgbClr val="2D6D45"/>
                </a:solidFill>
                <a:latin typeface="Aptos"/>
              </a:rPr>
              <a:t>Executive Verdict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29814" y="1810512"/>
            <a:ext cx="1786737" cy="310896"/>
          </a:xfrm>
          <a:prstGeom prst="roundRect">
            <a:avLst/>
          </a:prstGeom>
          <a:solidFill>
            <a:srgbClr val="EDF7E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66390" y="1819656"/>
            <a:ext cx="1713585" cy="237744"/>
          </a:xfrm>
          <a:prstGeom prst="rect">
            <a:avLst/>
          </a:prstGeom>
          <a:noFill/>
        </p:spPr>
        <p:txBody>
          <a:bodyPr wrap="square" lIns="73152" rIns="73152" tIns="54864" bIns="3291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 i="0">
                <a:solidFill>
                  <a:srgbClr val="2D6D45"/>
                </a:solidFill>
                <a:latin typeface="Aptos"/>
              </a:rPr>
              <a:t>Boardroom Snapshot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26279" y="1810512"/>
            <a:ext cx="1430121" cy="310896"/>
          </a:xfrm>
          <a:prstGeom prst="roundRect">
            <a:avLst/>
          </a:prstGeom>
          <a:solidFill>
            <a:srgbClr val="EDF7E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62855" y="1819656"/>
            <a:ext cx="1356969" cy="237744"/>
          </a:xfrm>
          <a:prstGeom prst="rect">
            <a:avLst/>
          </a:prstGeom>
          <a:noFill/>
        </p:spPr>
        <p:txBody>
          <a:bodyPr wrap="square" lIns="73152" rIns="73152" tIns="54864" bIns="3291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 i="0">
                <a:solidFill>
                  <a:srgbClr val="2D6D45"/>
                </a:solidFill>
                <a:latin typeface="Aptos"/>
              </a:rPr>
              <a:t>Decision Memo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66129" y="1810512"/>
            <a:ext cx="1216152" cy="310896"/>
          </a:xfrm>
          <a:prstGeom prst="roundRect">
            <a:avLst/>
          </a:prstGeom>
          <a:solidFill>
            <a:srgbClr val="EDF7E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02705" y="1819656"/>
            <a:ext cx="1143000" cy="237744"/>
          </a:xfrm>
          <a:prstGeom prst="rect">
            <a:avLst/>
          </a:prstGeom>
          <a:noFill/>
        </p:spPr>
        <p:txBody>
          <a:bodyPr wrap="square" lIns="73152" rIns="73152" tIns="54864" bIns="3291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 i="0">
                <a:solidFill>
                  <a:srgbClr val="2D6D45"/>
                </a:solidFill>
                <a:latin typeface="Aptos"/>
              </a:rPr>
              <a:t>Scorecards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92009" y="1810512"/>
            <a:ext cx="1188720" cy="310896"/>
          </a:xfrm>
          <a:prstGeom prst="roundRect">
            <a:avLst/>
          </a:prstGeom>
          <a:solidFill>
            <a:srgbClr val="EDF7E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28585" y="1819656"/>
            <a:ext cx="1115568" cy="237744"/>
          </a:xfrm>
          <a:prstGeom prst="rect">
            <a:avLst/>
          </a:prstGeom>
          <a:noFill/>
        </p:spPr>
        <p:txBody>
          <a:bodyPr wrap="square" lIns="73152" rIns="73152" tIns="54864" bIns="3291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 i="0">
                <a:solidFill>
                  <a:srgbClr val="2D6D45"/>
                </a:solidFill>
                <a:latin typeface="Aptos"/>
              </a:rPr>
              <a:t>Fix Pack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90457" y="1810512"/>
            <a:ext cx="2214676" cy="310896"/>
          </a:xfrm>
          <a:prstGeom prst="roundRect">
            <a:avLst/>
          </a:prstGeom>
          <a:solidFill>
            <a:srgbClr val="EDF7E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27033" y="1819656"/>
            <a:ext cx="2141524" cy="237744"/>
          </a:xfrm>
          <a:prstGeom prst="rect">
            <a:avLst/>
          </a:prstGeom>
          <a:noFill/>
        </p:spPr>
        <p:txBody>
          <a:bodyPr wrap="square" lIns="73152" rIns="73152" tIns="54864" bIns="3291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 i="0">
                <a:solidFill>
                  <a:srgbClr val="2D6D45"/>
                </a:solidFill>
                <a:latin typeface="Aptos"/>
              </a:rPr>
              <a:t>Machine-Facing GTM Risks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" y="2157984"/>
            <a:ext cx="1715414" cy="310896"/>
          </a:xfrm>
          <a:prstGeom prst="roundRect">
            <a:avLst/>
          </a:prstGeom>
          <a:solidFill>
            <a:srgbClr val="EDF7E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2167127"/>
            <a:ext cx="1642262" cy="237744"/>
          </a:xfrm>
          <a:prstGeom prst="rect">
            <a:avLst/>
          </a:prstGeom>
          <a:noFill/>
        </p:spPr>
        <p:txBody>
          <a:bodyPr wrap="square" lIns="73152" rIns="73152" tIns="54864" bIns="3291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 i="0">
                <a:solidFill>
                  <a:srgbClr val="2D6D45"/>
                </a:solidFill>
                <a:latin typeface="Aptos"/>
              </a:rPr>
              <a:t>Evidence Receipts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29814" y="2157984"/>
            <a:ext cx="2143353" cy="310896"/>
          </a:xfrm>
          <a:prstGeom prst="roundRect">
            <a:avLst/>
          </a:prstGeom>
          <a:solidFill>
            <a:srgbClr val="EDF7E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66390" y="2167127"/>
            <a:ext cx="2070201" cy="237744"/>
          </a:xfrm>
          <a:prstGeom prst="rect">
            <a:avLst/>
          </a:prstGeom>
          <a:noFill/>
        </p:spPr>
        <p:txBody>
          <a:bodyPr wrap="square" lIns="73152" rIns="73152" tIns="54864" bIns="3291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 i="0">
                <a:solidFill>
                  <a:srgbClr val="2D6D45"/>
                </a:solidFill>
                <a:latin typeface="Aptos"/>
              </a:rPr>
              <a:t>Visible Agent Artifacts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" y="2468880"/>
            <a:ext cx="521208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DBB95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2578608"/>
            <a:ext cx="4992624" cy="1700784"/>
          </a:xfrm>
          <a:prstGeom prst="rect">
            <a:avLst/>
          </a:prstGeom>
          <a:noFill/>
        </p:spPr>
        <p:txBody>
          <a:bodyPr wrap="square" lIns="73152" rIns="73152" tIns="54864" bIns="3291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2D6D45"/>
                </a:solidFill>
                <a:latin typeface="Aptos"/>
              </a:rPr>
              <a:t>[INSERT APP SCREENSHOT: Executive Verdict + Boardroom Snapshot]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" y="4590288"/>
            <a:ext cx="2505456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DBB95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700016"/>
            <a:ext cx="2286000" cy="950976"/>
          </a:xfrm>
          <a:prstGeom prst="rect">
            <a:avLst/>
          </a:prstGeom>
          <a:noFill/>
        </p:spPr>
        <p:txBody>
          <a:bodyPr wrap="square" lIns="73152" rIns="73152" tIns="54864" bIns="3291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2D6D45"/>
                </a:solidFill>
                <a:latin typeface="Aptos"/>
              </a:rPr>
              <a:t>[INSERT APP SCREENSHOT: Decision Memo + Scorecards]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511296" y="4590288"/>
            <a:ext cx="2505456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DBB95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21024" y="4700016"/>
            <a:ext cx="2286000" cy="950976"/>
          </a:xfrm>
          <a:prstGeom prst="rect">
            <a:avLst/>
          </a:prstGeom>
          <a:noFill/>
        </p:spPr>
        <p:txBody>
          <a:bodyPr wrap="square" lIns="73152" rIns="73152" tIns="54864" bIns="3291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2D6D45"/>
                </a:solidFill>
                <a:latin typeface="Aptos"/>
              </a:rPr>
              <a:t>[INSERT APP SCREENSHOT: Fix Pack]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09360" y="2468880"/>
            <a:ext cx="502920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510528" y="2697480"/>
            <a:ext cx="1755648" cy="310896"/>
          </a:xfrm>
          <a:prstGeom prst="roundRect">
            <a:avLst/>
          </a:prstGeom>
          <a:solidFill>
            <a:srgbClr val="FBF3D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47104" y="2706624"/>
            <a:ext cx="1682495" cy="237744"/>
          </a:xfrm>
          <a:prstGeom prst="rect">
            <a:avLst/>
          </a:prstGeom>
          <a:noFill/>
        </p:spPr>
        <p:txBody>
          <a:bodyPr wrap="square" lIns="73152" rIns="73152" tIns="54864" bIns="3291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 i="0">
                <a:solidFill>
                  <a:srgbClr val="8A6921"/>
                </a:solidFill>
                <a:latin typeface="Aptos"/>
              </a:rPr>
              <a:t>Why judges should believe it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10528" y="3090672"/>
            <a:ext cx="4572000" cy="411480"/>
          </a:xfrm>
          <a:prstGeom prst="rect">
            <a:avLst/>
          </a:prstGeom>
          <a:noFill/>
        </p:spPr>
        <p:txBody>
          <a:bodyPr wrap="square" lIns="73152" rIns="73152" tIns="54864" bIns="3291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1" i="0">
                <a:solidFill>
                  <a:srgbClr val="152016"/>
                </a:solidFill>
                <a:latin typeface="Aptos"/>
              </a:rPr>
              <a:t>The output reads like something a GTM, content, or executive team can act on immediately.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10528" y="3712463"/>
            <a:ext cx="4572000" cy="310896"/>
          </a:xfrm>
          <a:prstGeom prst="rect">
            <a:avLst/>
          </a:prstGeom>
          <a:noFill/>
        </p:spPr>
        <p:txBody>
          <a:bodyPr wrap="square" lIns="73152" rIns="73152" tIns="54864" bIns="3291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40" b="0" i="0">
                <a:solidFill>
                  <a:srgbClr val="49564A"/>
                </a:solidFill>
                <a:latin typeface="Aptos"/>
              </a:rPr>
              <a:t>• It compresses risk, consequence, and first move into boardroom language.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10528" y="4105655"/>
            <a:ext cx="4572000" cy="310896"/>
          </a:xfrm>
          <a:prstGeom prst="rect">
            <a:avLst/>
          </a:prstGeom>
          <a:noFill/>
        </p:spPr>
        <p:txBody>
          <a:bodyPr wrap="square" lIns="73152" rIns="73152" tIns="54864" bIns="3291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40" b="0" i="0">
                <a:solidFill>
                  <a:srgbClr val="49564A"/>
                </a:solidFill>
                <a:latin typeface="Aptos"/>
              </a:rPr>
              <a:t>• It exposes visible agent artifacts instead of hiding the workflow behind a black box.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10528" y="4498848"/>
            <a:ext cx="4572000" cy="310896"/>
          </a:xfrm>
          <a:prstGeom prst="rect">
            <a:avLst/>
          </a:prstGeom>
          <a:noFill/>
        </p:spPr>
        <p:txBody>
          <a:bodyPr wrap="square" lIns="73152" rIns="73152" tIns="54864" bIns="3291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40" b="0" i="0">
                <a:solidFill>
                  <a:srgbClr val="49564A"/>
                </a:solidFill>
                <a:latin typeface="Aptos"/>
              </a:rPr>
              <a:t>• It hands teams an actionable Fix Pack with content, proof, routing, and schema workstreams.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10528" y="4892040"/>
            <a:ext cx="4572000" cy="310896"/>
          </a:xfrm>
          <a:prstGeom prst="rect">
            <a:avLst/>
          </a:prstGeom>
          <a:noFill/>
        </p:spPr>
        <p:txBody>
          <a:bodyPr wrap="square" lIns="73152" rIns="73152" tIns="54864" bIns="3291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40" b="0" i="0">
                <a:solidFill>
                  <a:srgbClr val="49564A"/>
                </a:solidFill>
                <a:latin typeface="Aptos"/>
              </a:rPr>
              <a:t>• It keeps limitations explicit and avoids unverified claims or fake precision.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48288" y="6400800"/>
            <a:ext cx="320040" cy="201168"/>
          </a:xfrm>
          <a:prstGeom prst="rect">
            <a:avLst/>
          </a:prstGeom>
          <a:noFill/>
        </p:spPr>
        <p:txBody>
          <a:bodyPr wrap="square" lIns="73152" rIns="73152" tIns="54864" bIns="32918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50" b="0" i="0">
                <a:solidFill>
                  <a:srgbClr val="6F7D70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15400" y="-137160"/>
            <a:ext cx="2834640" cy="2194560"/>
          </a:xfrm>
          <a:prstGeom prst="ellipse">
            <a:avLst/>
          </a:prstGeom>
          <a:solidFill>
            <a:srgbClr val="DFF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548640" y="-182880"/>
            <a:ext cx="3108960" cy="1920240"/>
          </a:xfrm>
          <a:prstGeom prst="ellipse">
            <a:avLst/>
          </a:prstGeom>
          <a:solidFill>
            <a:srgbClr val="8DB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818120" y="4983480"/>
            <a:ext cx="2926080" cy="1371600"/>
          </a:xfrm>
          <a:prstGeom prst="ellipse">
            <a:avLst/>
          </a:prstGeom>
          <a:solidFill>
            <a:srgbClr val="3E8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20624"/>
            <a:ext cx="1737360" cy="310896"/>
          </a:xfrm>
          <a:prstGeom prst="roundRect">
            <a:avLst/>
          </a:prstGeom>
          <a:solidFill>
            <a:srgbClr val="DFF2E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" y="429768"/>
            <a:ext cx="1664207" cy="237744"/>
          </a:xfrm>
          <a:prstGeom prst="rect">
            <a:avLst/>
          </a:prstGeom>
          <a:noFill/>
        </p:spPr>
        <p:txBody>
          <a:bodyPr wrap="square" lIns="73152" rIns="73152" tIns="54864" bIns="3291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 i="0">
                <a:solidFill>
                  <a:srgbClr val="2D6D45"/>
                </a:solidFill>
                <a:latin typeface="Aptos"/>
              </a:rPr>
              <a:t>Shopify case study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868680"/>
            <a:ext cx="10149840" cy="640080"/>
          </a:xfrm>
          <a:prstGeom prst="rect">
            <a:avLst/>
          </a:prstGeom>
          <a:noFill/>
        </p:spPr>
        <p:txBody>
          <a:bodyPr wrap="square" lIns="73152" rIns="73152" tIns="54864" bIns="3291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152016"/>
                </a:solidFill>
                <a:latin typeface="Aptos"/>
              </a:rPr>
              <a:t>Demo case: Shopify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389888"/>
            <a:ext cx="10241280" cy="384048"/>
          </a:xfrm>
          <a:prstGeom prst="rect">
            <a:avLst/>
          </a:prstGeom>
          <a:noFill/>
        </p:spPr>
        <p:txBody>
          <a:bodyPr wrap="square" lIns="73152" rIns="73152" tIns="54864" bIns="3291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49564A"/>
                </a:solidFill>
                <a:latin typeface="Aptos"/>
              </a:rPr>
              <a:t>The strongest current demo run shows why this matters even for a high-quality, machine-readable site.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" y="1883664"/>
            <a:ext cx="1874519" cy="1115568"/>
          </a:xfrm>
          <a:prstGeom prst="roundRect">
            <a:avLst/>
          </a:prstGeom>
          <a:solidFill>
            <a:srgbClr val="DFF2E5"/>
          </a:solidFill>
          <a:ln w="12700">
            <a:solidFill>
              <a:srgbClr val="DFF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993392"/>
            <a:ext cx="1618487" cy="219456"/>
          </a:xfrm>
          <a:prstGeom prst="rect">
            <a:avLst/>
          </a:prstGeom>
          <a:noFill/>
        </p:spPr>
        <p:txBody>
          <a:bodyPr wrap="square" lIns="73152" rIns="73152" tIns="54864" bIns="3291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6F7D70"/>
                </a:solidFill>
                <a:latin typeface="Aptos"/>
              </a:rPr>
              <a:t>AI Visibility Score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276856"/>
            <a:ext cx="1618487" cy="347472"/>
          </a:xfrm>
          <a:prstGeom prst="rect">
            <a:avLst/>
          </a:prstGeom>
          <a:noFill/>
        </p:spPr>
        <p:txBody>
          <a:bodyPr wrap="square" lIns="73152" rIns="73152" tIns="54864" bIns="3291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2D6D45"/>
                </a:solidFill>
                <a:latin typeface="Aptos"/>
              </a:rPr>
              <a:t>96 / 100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633472"/>
            <a:ext cx="1618487" cy="274319"/>
          </a:xfrm>
          <a:prstGeom prst="rect">
            <a:avLst/>
          </a:prstGeom>
          <a:noFill/>
        </p:spPr>
        <p:txBody>
          <a:bodyPr wrap="square" lIns="73152" rIns="73152" tIns="54864" bIns="3291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0" i="0">
                <a:solidFill>
                  <a:srgbClr val="49564A"/>
                </a:solidFill>
                <a:latin typeface="Aptos"/>
              </a:rPr>
              <a:t>Excellent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" y="3200400"/>
            <a:ext cx="3749039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3310128"/>
            <a:ext cx="3493007" cy="219456"/>
          </a:xfrm>
          <a:prstGeom prst="rect">
            <a:avLst/>
          </a:prstGeom>
          <a:noFill/>
        </p:spPr>
        <p:txBody>
          <a:bodyPr wrap="square" lIns="73152" rIns="73152" tIns="54864" bIns="3291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6F7D70"/>
                </a:solidFill>
                <a:latin typeface="Aptos"/>
              </a:rPr>
              <a:t>Top machine-facing gap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3593592"/>
            <a:ext cx="3493007" cy="347472"/>
          </a:xfrm>
          <a:prstGeom prst="rect">
            <a:avLst/>
          </a:prstGeom>
          <a:noFill/>
        </p:spPr>
        <p:txBody>
          <a:bodyPr wrap="square" lIns="73152" rIns="73152" tIns="54864" bIns="3291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152016"/>
                </a:solidFill>
                <a:latin typeface="Aptos"/>
              </a:rPr>
              <a:t>Buyer path present, but pricing and evaluation logic may still be fragmented.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" y="4553712"/>
            <a:ext cx="3749039" cy="1051560"/>
          </a:xfrm>
          <a:prstGeom prst="roundRect">
            <a:avLst/>
          </a:prstGeom>
          <a:solidFill>
            <a:srgbClr val="FBF3DF"/>
          </a:solidFill>
          <a:ln w="12700">
            <a:solidFill>
              <a:srgbClr val="D1A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4663440"/>
            <a:ext cx="3493007" cy="219456"/>
          </a:xfrm>
          <a:prstGeom prst="rect">
            <a:avLst/>
          </a:prstGeom>
          <a:noFill/>
        </p:spPr>
        <p:txBody>
          <a:bodyPr wrap="square" lIns="73152" rIns="73152" tIns="54864" bIns="3291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6F7D70"/>
                </a:solidFill>
                <a:latin typeface="Aptos"/>
              </a:rPr>
              <a:t>First-week move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4946904"/>
            <a:ext cx="3493007" cy="347472"/>
          </a:xfrm>
          <a:prstGeom prst="rect">
            <a:avLst/>
          </a:prstGeom>
          <a:noFill/>
        </p:spPr>
        <p:txBody>
          <a:bodyPr wrap="square" lIns="73152" rIns="73152" tIns="54864" bIns="3291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152016"/>
                </a:solidFill>
                <a:latin typeface="Aptos"/>
              </a:rPr>
              <a:t>Make the B2B, DTC, and enterprise distinction more machine-readable.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" y="5669280"/>
            <a:ext cx="3749039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32688" y="5779008"/>
            <a:ext cx="2148839" cy="310896"/>
          </a:xfrm>
          <a:prstGeom prst="roundRect">
            <a:avLst/>
          </a:prstGeom>
          <a:solidFill>
            <a:srgbClr val="DFF2E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9264" y="5788152"/>
            <a:ext cx="2075687" cy="237744"/>
          </a:xfrm>
          <a:prstGeom prst="rect">
            <a:avLst/>
          </a:prstGeom>
          <a:noFill/>
        </p:spPr>
        <p:txBody>
          <a:bodyPr wrap="square" lIns="73152" rIns="73152" tIns="54864" bIns="3291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 i="0">
                <a:solidFill>
                  <a:srgbClr val="2D6D45"/>
                </a:solidFill>
                <a:latin typeface="Aptos"/>
              </a:rPr>
              <a:t>Example Fix Pack actions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" y="6181344"/>
            <a:ext cx="3419856" cy="384048"/>
          </a:xfrm>
          <a:prstGeom prst="rect">
            <a:avLst/>
          </a:prstGeom>
          <a:noFill/>
        </p:spPr>
        <p:txBody>
          <a:bodyPr wrap="square" lIns="73152" rIns="73152" tIns="54864" bIns="3291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49564A"/>
                </a:solidFill>
                <a:latin typeface="Aptos"/>
              </a:rPr>
              <a:t>• Package proof closer to homepage and enterprise claims.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" y="6528816"/>
            <a:ext cx="3419856" cy="384048"/>
          </a:xfrm>
          <a:prstGeom prst="rect">
            <a:avLst/>
          </a:prstGeom>
          <a:noFill/>
        </p:spPr>
        <p:txBody>
          <a:bodyPr wrap="square" lIns="73152" rIns="73152" tIns="54864" bIns="3291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49564A"/>
                </a:solidFill>
                <a:latin typeface="Aptos"/>
              </a:rPr>
              <a:t>• Clarify the enterprise evaluation path.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" y="6876288"/>
            <a:ext cx="3419856" cy="384048"/>
          </a:xfrm>
          <a:prstGeom prst="rect">
            <a:avLst/>
          </a:prstGeom>
          <a:noFill/>
        </p:spPr>
        <p:txBody>
          <a:bodyPr wrap="square" lIns="73152" rIns="73152" tIns="54864" bIns="3291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49564A"/>
                </a:solidFill>
                <a:latin typeface="Aptos"/>
              </a:rPr>
              <a:t>• Reinforce product, organization, FAQ, and enterprise schema.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64608" y="1874519"/>
            <a:ext cx="29718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DBB95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74336" y="1984248"/>
            <a:ext cx="2752344" cy="1609344"/>
          </a:xfrm>
          <a:prstGeom prst="rect">
            <a:avLst/>
          </a:prstGeom>
          <a:noFill/>
        </p:spPr>
        <p:txBody>
          <a:bodyPr wrap="square" lIns="73152" rIns="73152" tIns="54864" bIns="3291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2D6D45"/>
                </a:solidFill>
                <a:latin typeface="Aptos"/>
              </a:rPr>
              <a:t>[INSERT APP SCREENSHOT: Shopify Executive Verdict]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83296" y="1874519"/>
            <a:ext cx="29718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DBB95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93023" y="1984248"/>
            <a:ext cx="2752344" cy="1609344"/>
          </a:xfrm>
          <a:prstGeom prst="rect">
            <a:avLst/>
          </a:prstGeom>
          <a:noFill/>
        </p:spPr>
        <p:txBody>
          <a:bodyPr wrap="square" lIns="73152" rIns="73152" tIns="54864" bIns="3291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2D6D45"/>
                </a:solidFill>
                <a:latin typeface="Aptos"/>
              </a:rPr>
              <a:t>[INSERT APP SCREENSHOT: Shopify Fix Pack]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864608" y="4005072"/>
            <a:ext cx="6190488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DBB95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74336" y="4114800"/>
            <a:ext cx="5971031" cy="1408176"/>
          </a:xfrm>
          <a:prstGeom prst="rect">
            <a:avLst/>
          </a:prstGeom>
          <a:noFill/>
        </p:spPr>
        <p:txBody>
          <a:bodyPr wrap="square" lIns="73152" rIns="73152" tIns="54864" bIns="3291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2D6D45"/>
                </a:solidFill>
                <a:latin typeface="Aptos"/>
              </a:rPr>
              <a:t>[INSERT APP SCREENSHOT: Shopify Evidence Receipts or Agent Artifacts]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864608" y="5870448"/>
            <a:ext cx="6190488" cy="475488"/>
          </a:xfrm>
          <a:prstGeom prst="roundRect">
            <a:avLst/>
          </a:prstGeom>
          <a:solidFill>
            <a:srgbClr val="DFF2E5"/>
          </a:solidFill>
          <a:ln w="12700">
            <a:solidFill>
              <a:srgbClr val="DFF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0" y="6007608"/>
            <a:ext cx="5852160" cy="164592"/>
          </a:xfrm>
          <a:prstGeom prst="rect">
            <a:avLst/>
          </a:prstGeom>
          <a:noFill/>
        </p:spPr>
        <p:txBody>
          <a:bodyPr wrap="square" lIns="73152" rIns="73152" tIns="54864" bIns="32918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80" b="1" i="0">
                <a:solidFill>
                  <a:srgbClr val="2D6D45"/>
                </a:solidFill>
                <a:latin typeface="Aptos"/>
              </a:rPr>
              <a:t>Strong sites still benefit when machine-facing GTM signals are easier to interpret, cite, and route.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48288" y="6400800"/>
            <a:ext cx="320040" cy="201168"/>
          </a:xfrm>
          <a:prstGeom prst="rect">
            <a:avLst/>
          </a:prstGeom>
          <a:noFill/>
        </p:spPr>
        <p:txBody>
          <a:bodyPr wrap="square" lIns="73152" rIns="73152" tIns="54864" bIns="32918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50" b="0" i="0">
                <a:solidFill>
                  <a:srgbClr val="6F7D70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15400" y="-137160"/>
            <a:ext cx="2834640" cy="2194560"/>
          </a:xfrm>
          <a:prstGeom prst="ellipse">
            <a:avLst/>
          </a:prstGeom>
          <a:solidFill>
            <a:srgbClr val="DFF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548640" y="-182880"/>
            <a:ext cx="3108960" cy="1920240"/>
          </a:xfrm>
          <a:prstGeom prst="ellipse">
            <a:avLst/>
          </a:prstGeom>
          <a:solidFill>
            <a:srgbClr val="8DB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818120" y="4983480"/>
            <a:ext cx="2926080" cy="1371600"/>
          </a:xfrm>
          <a:prstGeom prst="ellipse">
            <a:avLst/>
          </a:prstGeom>
          <a:solidFill>
            <a:srgbClr val="3E8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20624"/>
            <a:ext cx="1874519" cy="310896"/>
          </a:xfrm>
          <a:prstGeom prst="roundRect">
            <a:avLst/>
          </a:prstGeom>
          <a:solidFill>
            <a:srgbClr val="DFF2E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" y="429768"/>
            <a:ext cx="1801367" cy="237744"/>
          </a:xfrm>
          <a:prstGeom prst="rect">
            <a:avLst/>
          </a:prstGeom>
          <a:noFill/>
        </p:spPr>
        <p:txBody>
          <a:bodyPr wrap="square" lIns="73152" rIns="73152" tIns="54864" bIns="3291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 i="0">
                <a:solidFill>
                  <a:srgbClr val="2D6D45"/>
                </a:solidFill>
                <a:latin typeface="Aptos"/>
              </a:rPr>
              <a:t>Why Gemini / Track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868680"/>
            <a:ext cx="10149840" cy="640080"/>
          </a:xfrm>
          <a:prstGeom prst="rect">
            <a:avLst/>
          </a:prstGeom>
          <a:noFill/>
        </p:spPr>
        <p:txBody>
          <a:bodyPr wrap="square" lIns="73152" rIns="73152" tIns="54864" bIns="3291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152016"/>
                </a:solidFill>
                <a:latin typeface="Aptos"/>
              </a:rPr>
              <a:t>Built for Track 2: Gemini-powered agent workflows for enterprise 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389888"/>
            <a:ext cx="10241280" cy="384048"/>
          </a:xfrm>
          <a:prstGeom prst="rect">
            <a:avLst/>
          </a:prstGeom>
          <a:noFill/>
        </p:spPr>
        <p:txBody>
          <a:bodyPr wrap="square" lIns="73152" rIns="73152" tIns="54864" bIns="3291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49564A"/>
                </a:solidFill>
                <a:latin typeface="Aptos"/>
              </a:rPr>
              <a:t>Gemini is used for bounded orchestration, typed outputs, and visible intermediate artifacts that improve trust and usability.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" y="1828800"/>
            <a:ext cx="2487168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993392"/>
            <a:ext cx="2240280" cy="256032"/>
          </a:xfrm>
          <a:prstGeom prst="rect">
            <a:avLst/>
          </a:prstGeom>
          <a:noFill/>
        </p:spPr>
        <p:txBody>
          <a:bodyPr wrap="square" lIns="73152" rIns="73152" tIns="54864" bIns="32918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20" b="1" i="0">
                <a:solidFill>
                  <a:srgbClr val="152016"/>
                </a:solidFill>
                <a:latin typeface="Aptos"/>
              </a:rPr>
              <a:t>Bounded six-stage workflow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04288"/>
            <a:ext cx="2240280" cy="457200"/>
          </a:xfrm>
          <a:prstGeom prst="rect">
            <a:avLst/>
          </a:prstGeom>
          <a:noFill/>
        </p:spPr>
        <p:txBody>
          <a:bodyPr wrap="square" lIns="73152" rIns="73152" tIns="54864" bIns="32918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60" b="0" i="0">
                <a:solidFill>
                  <a:srgbClr val="49564A"/>
                </a:solidFill>
                <a:latin typeface="Aptos"/>
              </a:rPr>
              <a:t>Gemini powers the core workflow, stage by stage.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47872" y="1828800"/>
            <a:ext cx="2487168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75887" y="1993392"/>
            <a:ext cx="2240280" cy="256032"/>
          </a:xfrm>
          <a:prstGeom prst="rect">
            <a:avLst/>
          </a:prstGeom>
          <a:noFill/>
        </p:spPr>
        <p:txBody>
          <a:bodyPr wrap="square" lIns="73152" rIns="73152" tIns="54864" bIns="32918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20" b="1" i="0">
                <a:solidFill>
                  <a:srgbClr val="152016"/>
                </a:solidFill>
                <a:latin typeface="Aptos"/>
              </a:rPr>
              <a:t>Structured, typed outputs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75887" y="2304288"/>
            <a:ext cx="2240280" cy="457200"/>
          </a:xfrm>
          <a:prstGeom prst="rect">
            <a:avLst/>
          </a:prstGeom>
          <a:noFill/>
        </p:spPr>
        <p:txBody>
          <a:bodyPr wrap="square" lIns="73152" rIns="73152" tIns="54864" bIns="32918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60" b="0" i="0">
                <a:solidFill>
                  <a:srgbClr val="49564A"/>
                </a:solidFill>
                <a:latin typeface="Aptos"/>
              </a:rPr>
              <a:t>Artifacts are constrained and render cleanly into an executive brief.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91072" y="1828800"/>
            <a:ext cx="2487168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993392"/>
            <a:ext cx="2240280" cy="256032"/>
          </a:xfrm>
          <a:prstGeom prst="rect">
            <a:avLst/>
          </a:prstGeom>
          <a:noFill/>
        </p:spPr>
        <p:txBody>
          <a:bodyPr wrap="square" lIns="73152" rIns="73152" tIns="54864" bIns="32918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20" b="1" i="0">
                <a:solidFill>
                  <a:srgbClr val="152016"/>
                </a:solidFill>
                <a:latin typeface="Aptos"/>
              </a:rPr>
              <a:t>Visible intermediate artifacts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04288"/>
            <a:ext cx="2240280" cy="457200"/>
          </a:xfrm>
          <a:prstGeom prst="rect">
            <a:avLst/>
          </a:prstGeom>
          <a:noFill/>
        </p:spPr>
        <p:txBody>
          <a:bodyPr wrap="square" lIns="73152" rIns="73152" tIns="54864" bIns="32918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60" b="0" i="0">
                <a:solidFill>
                  <a:srgbClr val="49564A"/>
                </a:solidFill>
                <a:latin typeface="Aptos"/>
              </a:rPr>
              <a:t>Inspectability improves enterprise trust and usability.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34272" y="1828800"/>
            <a:ext cx="2487168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62288" y="1993392"/>
            <a:ext cx="2240280" cy="256032"/>
          </a:xfrm>
          <a:prstGeom prst="rect">
            <a:avLst/>
          </a:prstGeom>
          <a:noFill/>
        </p:spPr>
        <p:txBody>
          <a:bodyPr wrap="square" lIns="73152" rIns="73152" tIns="54864" bIns="32918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20" b="1" i="0">
                <a:solidFill>
                  <a:srgbClr val="152016"/>
                </a:solidFill>
                <a:latin typeface="Aptos"/>
              </a:rPr>
              <a:t>Evidence-constrained synthesis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62288" y="2304288"/>
            <a:ext cx="2240280" cy="457200"/>
          </a:xfrm>
          <a:prstGeom prst="rect">
            <a:avLst/>
          </a:prstGeom>
          <a:noFill/>
        </p:spPr>
        <p:txBody>
          <a:bodyPr wrap="square" lIns="73152" rIns="73152" tIns="54864" bIns="32918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60" b="0" i="0">
                <a:solidFill>
                  <a:srgbClr val="49564A"/>
                </a:solidFill>
                <a:latin typeface="Aptos"/>
              </a:rPr>
              <a:t>Reliability is prioritized over fake autonomous behavior.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" y="3310128"/>
            <a:ext cx="495604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" y="3456432"/>
            <a:ext cx="4572000" cy="237744"/>
          </a:xfrm>
          <a:prstGeom prst="rect">
            <a:avLst/>
          </a:prstGeom>
          <a:noFill/>
        </p:spPr>
        <p:txBody>
          <a:bodyPr wrap="square" lIns="73152" rIns="73152" tIns="54864" bIns="3291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20" b="1" i="0">
                <a:solidFill>
                  <a:srgbClr val="2D6D45"/>
                </a:solidFill>
                <a:latin typeface="Aptos"/>
              </a:rPr>
              <a:t>Application of Technology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" y="3749039"/>
            <a:ext cx="4572000" cy="658368"/>
          </a:xfrm>
          <a:prstGeom prst="rect">
            <a:avLst/>
          </a:prstGeom>
          <a:noFill/>
        </p:spPr>
        <p:txBody>
          <a:bodyPr wrap="square" lIns="73152" rIns="73152" tIns="54864" bIns="3291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0" i="0">
                <a:solidFill>
                  <a:srgbClr val="49564A"/>
                </a:solidFill>
                <a:latin typeface="Aptos"/>
              </a:rPr>
              <a:t>Gemini drives the workflow, structured synthesis, visible artifacts, and Fix Pack generation.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3310128"/>
            <a:ext cx="495604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91072" y="3456432"/>
            <a:ext cx="4572000" cy="237744"/>
          </a:xfrm>
          <a:prstGeom prst="rect">
            <a:avLst/>
          </a:prstGeom>
          <a:noFill/>
        </p:spPr>
        <p:txBody>
          <a:bodyPr wrap="square" lIns="73152" rIns="73152" tIns="54864" bIns="3291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20" b="1" i="0">
                <a:solidFill>
                  <a:srgbClr val="2D6D45"/>
                </a:solidFill>
                <a:latin typeface="Aptos"/>
              </a:rPr>
              <a:t>Presentation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91072" y="3749039"/>
            <a:ext cx="4572000" cy="658368"/>
          </a:xfrm>
          <a:prstGeom prst="rect">
            <a:avLst/>
          </a:prstGeom>
          <a:noFill/>
        </p:spPr>
        <p:txBody>
          <a:bodyPr wrap="square" lIns="73152" rIns="73152" tIns="54864" bIns="3291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0" i="0">
                <a:solidFill>
                  <a:srgbClr val="49564A"/>
                </a:solidFill>
                <a:latin typeface="Aptos"/>
              </a:rPr>
              <a:t>One URL input, clear workflow trace, and boardroom-ready outputs make the demo legible fast.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" y="4892040"/>
            <a:ext cx="495604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9264" y="5038344"/>
            <a:ext cx="4572000" cy="237744"/>
          </a:xfrm>
          <a:prstGeom prst="rect">
            <a:avLst/>
          </a:prstGeom>
          <a:noFill/>
        </p:spPr>
        <p:txBody>
          <a:bodyPr wrap="square" lIns="73152" rIns="73152" tIns="54864" bIns="3291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20" b="1" i="0">
                <a:solidFill>
                  <a:srgbClr val="2D6D45"/>
                </a:solidFill>
                <a:latin typeface="Aptos"/>
              </a:rPr>
              <a:t>Business Value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" y="5330952"/>
            <a:ext cx="4572000" cy="658368"/>
          </a:xfrm>
          <a:prstGeom prst="rect">
            <a:avLst/>
          </a:prstGeom>
          <a:noFill/>
        </p:spPr>
        <p:txBody>
          <a:bodyPr wrap="square" lIns="73152" rIns="73152" tIns="54864" bIns="3291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0" i="0">
                <a:solidFill>
                  <a:srgbClr val="49564A"/>
                </a:solidFill>
                <a:latin typeface="Aptos"/>
              </a:rPr>
              <a:t>Enterprises risk being misunderstood, weakly cited, or misrouted before a human buyer ever clicks.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26480" y="4892040"/>
            <a:ext cx="495604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91072" y="5038344"/>
            <a:ext cx="4572000" cy="237744"/>
          </a:xfrm>
          <a:prstGeom prst="rect">
            <a:avLst/>
          </a:prstGeom>
          <a:noFill/>
        </p:spPr>
        <p:txBody>
          <a:bodyPr wrap="square" lIns="73152" rIns="73152" tIns="54864" bIns="3291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20" b="1" i="0">
                <a:solidFill>
                  <a:srgbClr val="2D6D45"/>
                </a:solidFill>
                <a:latin typeface="Aptos"/>
              </a:rPr>
              <a:t>Originality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91072" y="5330952"/>
            <a:ext cx="4572000" cy="658368"/>
          </a:xfrm>
          <a:prstGeom prst="rect">
            <a:avLst/>
          </a:prstGeom>
          <a:noFill/>
        </p:spPr>
        <p:txBody>
          <a:bodyPr wrap="square" lIns="73152" rIns="73152" tIns="54864" bIns="3291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0" i="0">
                <a:solidFill>
                  <a:srgbClr val="49564A"/>
                </a:solidFill>
                <a:latin typeface="Aptos"/>
              </a:rPr>
              <a:t>This audits and repairs the AI-era visibility layer, not generic SEO or crawler health.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48288" y="6400800"/>
            <a:ext cx="320040" cy="201168"/>
          </a:xfrm>
          <a:prstGeom prst="rect">
            <a:avLst/>
          </a:prstGeom>
          <a:noFill/>
        </p:spPr>
        <p:txBody>
          <a:bodyPr wrap="square" lIns="73152" rIns="73152" tIns="54864" bIns="32918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50" b="0" i="0">
                <a:solidFill>
                  <a:srgbClr val="6F7D70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15400" y="-137160"/>
            <a:ext cx="2834640" cy="2194560"/>
          </a:xfrm>
          <a:prstGeom prst="ellipse">
            <a:avLst/>
          </a:prstGeom>
          <a:solidFill>
            <a:srgbClr val="DFF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548640" y="-182880"/>
            <a:ext cx="3108960" cy="1920240"/>
          </a:xfrm>
          <a:prstGeom prst="ellipse">
            <a:avLst/>
          </a:prstGeom>
          <a:solidFill>
            <a:srgbClr val="8DB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818120" y="4983480"/>
            <a:ext cx="2926080" cy="1371600"/>
          </a:xfrm>
          <a:prstGeom prst="ellipse">
            <a:avLst/>
          </a:prstGeom>
          <a:solidFill>
            <a:srgbClr val="3E8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20624"/>
            <a:ext cx="1874519" cy="310896"/>
          </a:xfrm>
          <a:prstGeom prst="roundRect">
            <a:avLst/>
          </a:prstGeom>
          <a:solidFill>
            <a:srgbClr val="DFF2E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" y="429768"/>
            <a:ext cx="1801367" cy="237744"/>
          </a:xfrm>
          <a:prstGeom prst="rect">
            <a:avLst/>
          </a:prstGeom>
          <a:noFill/>
        </p:spPr>
        <p:txBody>
          <a:bodyPr wrap="square" lIns="73152" rIns="73152" tIns="54864" bIns="3291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 i="0">
                <a:solidFill>
                  <a:srgbClr val="2D6D45"/>
                </a:solidFill>
                <a:latin typeface="Aptos"/>
              </a:rPr>
              <a:t>Enterprise relevance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868680"/>
            <a:ext cx="10149840" cy="640080"/>
          </a:xfrm>
          <a:prstGeom prst="rect">
            <a:avLst/>
          </a:prstGeom>
          <a:noFill/>
        </p:spPr>
        <p:txBody>
          <a:bodyPr wrap="square" lIns="73152" rIns="73152" tIns="54864" bIns="3291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152016"/>
                </a:solidFill>
                <a:latin typeface="Aptos"/>
              </a:rPr>
              <a:t>This is machine-facing GTM infrastructure, not a generic audit.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389888"/>
            <a:ext cx="10241280" cy="384048"/>
          </a:xfrm>
          <a:prstGeom prst="rect">
            <a:avLst/>
          </a:prstGeom>
          <a:noFill/>
        </p:spPr>
        <p:txBody>
          <a:bodyPr wrap="square" lIns="73152" rIns="73152" tIns="54864" bIns="3291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49564A"/>
                </a:solidFill>
                <a:latin typeface="Aptos"/>
              </a:rPr>
              <a:t>Different enterprise teams can act on the same output without needing a redesign or a new data stack.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" y="1965960"/>
            <a:ext cx="5084064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50976" y="2112264"/>
            <a:ext cx="1325880" cy="310896"/>
          </a:xfrm>
          <a:prstGeom prst="roundRect">
            <a:avLst/>
          </a:prstGeom>
          <a:solidFill>
            <a:srgbClr val="DFF2E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121408"/>
            <a:ext cx="1252728" cy="237744"/>
          </a:xfrm>
          <a:prstGeom prst="rect">
            <a:avLst/>
          </a:prstGeom>
          <a:noFill/>
        </p:spPr>
        <p:txBody>
          <a:bodyPr wrap="square" lIns="73152" rIns="73152" tIns="54864" bIns="3291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 i="0">
                <a:solidFill>
                  <a:srgbClr val="2D6D45"/>
                </a:solidFill>
                <a:latin typeface="Aptos"/>
              </a:rPr>
              <a:t>GTM / Growth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496312"/>
            <a:ext cx="4709160" cy="603504"/>
          </a:xfrm>
          <a:prstGeom prst="rect">
            <a:avLst/>
          </a:prstGeom>
          <a:noFill/>
        </p:spPr>
        <p:txBody>
          <a:bodyPr wrap="square" lIns="73152" rIns="73152" tIns="54864" bIns="3291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40" b="0" i="0">
                <a:solidFill>
                  <a:srgbClr val="49564A"/>
                </a:solidFill>
                <a:latin typeface="Aptos"/>
              </a:rPr>
              <a:t>Identify where AI systems may misread the company, flatten differentiation, or fail to route buyer intent.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91072" y="1965960"/>
            <a:ext cx="5084064" cy="1417320"/>
          </a:xfrm>
          <a:prstGeom prst="roundRect">
            <a:avLst/>
          </a:prstGeom>
          <a:solidFill>
            <a:srgbClr val="EDF7EF"/>
          </a:solidFill>
          <a:ln w="12700">
            <a:solidFill>
              <a:srgbClr val="8DBB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37376" y="2112264"/>
            <a:ext cx="1668780" cy="310896"/>
          </a:xfrm>
          <a:prstGeom prst="round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2121408"/>
            <a:ext cx="1595628" cy="237744"/>
          </a:xfrm>
          <a:prstGeom prst="rect">
            <a:avLst/>
          </a:prstGeom>
          <a:noFill/>
        </p:spPr>
        <p:txBody>
          <a:bodyPr wrap="square" lIns="73152" rIns="73152" tIns="54864" bIns="3291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 i="0">
                <a:solidFill>
                  <a:srgbClr val="2D6D45"/>
                </a:solidFill>
                <a:latin typeface="Aptos"/>
              </a:rPr>
              <a:t>Digital / Content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7376" y="2496312"/>
            <a:ext cx="4709160" cy="603504"/>
          </a:xfrm>
          <a:prstGeom prst="rect">
            <a:avLst/>
          </a:prstGeom>
          <a:noFill/>
        </p:spPr>
        <p:txBody>
          <a:bodyPr wrap="square" lIns="73152" rIns="73152" tIns="54864" bIns="3291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40" b="0" i="0">
                <a:solidFill>
                  <a:srgbClr val="49564A"/>
                </a:solidFill>
                <a:latin typeface="Aptos"/>
              </a:rPr>
              <a:t>Repair answer-engine readiness, proof packaging, and citation support on the highest-signal pages.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" y="3749039"/>
            <a:ext cx="5084064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50976" y="3895344"/>
            <a:ext cx="1257300" cy="310896"/>
          </a:xfrm>
          <a:prstGeom prst="roundRect">
            <a:avLst/>
          </a:prstGeom>
          <a:solidFill>
            <a:srgbClr val="DFF2E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" y="3904487"/>
            <a:ext cx="1184148" cy="237744"/>
          </a:xfrm>
          <a:prstGeom prst="rect">
            <a:avLst/>
          </a:prstGeom>
          <a:noFill/>
        </p:spPr>
        <p:txBody>
          <a:bodyPr wrap="square" lIns="73152" rIns="73152" tIns="54864" bIns="3291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 i="0">
                <a:solidFill>
                  <a:srgbClr val="2D6D45"/>
                </a:solidFill>
                <a:latin typeface="Aptos"/>
              </a:rPr>
              <a:t>Engineering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" y="4279392"/>
            <a:ext cx="4709160" cy="603504"/>
          </a:xfrm>
          <a:prstGeom prst="rect">
            <a:avLst/>
          </a:prstGeom>
          <a:noFill/>
        </p:spPr>
        <p:txBody>
          <a:bodyPr wrap="square" lIns="73152" rIns="73152" tIns="54864" bIns="3291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40" b="0" i="0">
                <a:solidFill>
                  <a:srgbClr val="49564A"/>
                </a:solidFill>
                <a:latin typeface="Aptos"/>
              </a:rPr>
              <a:t>Implement schema, machine-readable structure, and page-level reinforcement without changing the product itself.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91072" y="3749039"/>
            <a:ext cx="5084064" cy="1417320"/>
          </a:xfrm>
          <a:prstGeom prst="roundRect">
            <a:avLst/>
          </a:prstGeom>
          <a:solidFill>
            <a:srgbClr val="EDF7EF"/>
          </a:solidFill>
          <a:ln w="12700">
            <a:solidFill>
              <a:srgbClr val="8DBB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37376" y="3895344"/>
            <a:ext cx="1280160" cy="310896"/>
          </a:xfrm>
          <a:prstGeom prst="round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952" y="3904487"/>
            <a:ext cx="1207007" cy="237744"/>
          </a:xfrm>
          <a:prstGeom prst="rect">
            <a:avLst/>
          </a:prstGeom>
          <a:noFill/>
        </p:spPr>
        <p:txBody>
          <a:bodyPr wrap="square" lIns="73152" rIns="73152" tIns="54864" bIns="3291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 i="0">
                <a:solidFill>
                  <a:srgbClr val="2D6D45"/>
                </a:solidFill>
                <a:latin typeface="Aptos"/>
              </a:rPr>
              <a:t>Executives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37376" y="4279392"/>
            <a:ext cx="4709160" cy="603504"/>
          </a:xfrm>
          <a:prstGeom prst="rect">
            <a:avLst/>
          </a:prstGeom>
          <a:noFill/>
        </p:spPr>
        <p:txBody>
          <a:bodyPr wrap="square" lIns="73152" rIns="73152" tIns="54864" bIns="3291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40" b="0" i="0">
                <a:solidFill>
                  <a:srgbClr val="49564A"/>
                </a:solidFill>
                <a:latin typeface="Aptos"/>
              </a:rPr>
              <a:t>See risk, consequence, ownership, and the first-week move in boardroom language.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" y="5806440"/>
            <a:ext cx="10570464" cy="457200"/>
          </a:xfrm>
          <a:prstGeom prst="roundRect">
            <a:avLst/>
          </a:prstGeom>
          <a:solidFill>
            <a:srgbClr val="FBF3DF"/>
          </a:solidFill>
          <a:ln w="12700">
            <a:solidFill>
              <a:srgbClr val="FBF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" y="5934456"/>
            <a:ext cx="10241280" cy="164592"/>
          </a:xfrm>
          <a:prstGeom prst="rect">
            <a:avLst/>
          </a:prstGeom>
          <a:noFill/>
        </p:spPr>
        <p:txBody>
          <a:bodyPr wrap="square" lIns="73152" rIns="73152" tIns="54864" bIns="32918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80" b="1" i="0">
                <a:solidFill>
                  <a:srgbClr val="8A6921"/>
                </a:solidFill>
                <a:latin typeface="Aptos"/>
              </a:rPr>
              <a:t>The output is designed to align strategy, content, and implementation around one machine-facing risk layer.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48288" y="6400800"/>
            <a:ext cx="320040" cy="201168"/>
          </a:xfrm>
          <a:prstGeom prst="rect">
            <a:avLst/>
          </a:prstGeom>
          <a:noFill/>
        </p:spPr>
        <p:txBody>
          <a:bodyPr wrap="square" lIns="73152" rIns="73152" tIns="54864" bIns="32918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50" b="0" i="0">
                <a:solidFill>
                  <a:srgbClr val="6F7D70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15400" y="-137160"/>
            <a:ext cx="2834640" cy="2194560"/>
          </a:xfrm>
          <a:prstGeom prst="ellipse">
            <a:avLst/>
          </a:prstGeom>
          <a:solidFill>
            <a:srgbClr val="DFF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548640" y="-182880"/>
            <a:ext cx="3108960" cy="1920240"/>
          </a:xfrm>
          <a:prstGeom prst="ellipse">
            <a:avLst/>
          </a:prstGeom>
          <a:solidFill>
            <a:srgbClr val="8DB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818120" y="4983480"/>
            <a:ext cx="2926080" cy="1371600"/>
          </a:xfrm>
          <a:prstGeom prst="ellipse">
            <a:avLst/>
          </a:prstGeom>
          <a:solidFill>
            <a:srgbClr val="3E8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457200"/>
            <a:ext cx="1097280" cy="310896"/>
          </a:xfrm>
          <a:prstGeom prst="roundRect">
            <a:avLst/>
          </a:prstGeom>
          <a:solidFill>
            <a:srgbClr val="DFF2E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" y="466344"/>
            <a:ext cx="1024127" cy="237744"/>
          </a:xfrm>
          <a:prstGeom prst="rect">
            <a:avLst/>
          </a:prstGeom>
          <a:noFill/>
        </p:spPr>
        <p:txBody>
          <a:bodyPr wrap="square" lIns="73152" rIns="73152" tIns="54864" bIns="3291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 i="0">
                <a:solidFill>
                  <a:srgbClr val="2D6D45"/>
                </a:solidFill>
                <a:latin typeface="Aptos"/>
              </a:rPr>
              <a:t>Closing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914400"/>
            <a:ext cx="5852160" cy="1097280"/>
          </a:xfrm>
          <a:prstGeom prst="rect">
            <a:avLst/>
          </a:prstGeom>
          <a:noFill/>
        </p:spPr>
        <p:txBody>
          <a:bodyPr wrap="square" lIns="73152" rIns="73152" tIns="54864" bIns="32918" anchor="t">
            <a:spAutoFit/>
          </a:bodyPr>
          <a:lstStyle/>
          <a:p>
            <a:pPr algn="l">
              <a:lnSpc>
                <a:spcPct val="96000"/>
              </a:lnSpc>
            </a:pPr>
            <a:r>
              <a:rPr sz="2700" b="1" i="0">
                <a:solidFill>
                  <a:srgbClr val="152016"/>
                </a:solidFill>
                <a:latin typeface="Aptos"/>
              </a:rPr>
              <a:t>Websites were built for humans.
The next layer must work for machines too.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468880"/>
            <a:ext cx="5440680" cy="640080"/>
          </a:xfrm>
          <a:prstGeom prst="rect">
            <a:avLst/>
          </a:prstGeom>
          <a:noFill/>
        </p:spPr>
        <p:txBody>
          <a:bodyPr wrap="square" lIns="73152" rIns="73152" tIns="54864" bIns="3291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40" b="0" i="0">
                <a:solidFill>
                  <a:srgbClr val="49564A"/>
                </a:solidFill>
                <a:latin typeface="Aptos"/>
              </a:rPr>
              <a:t>Agent Visibility Control Tower gives enterprises a way to inspect and repair how AI systems perceive them before a buyer ever clicks.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401568"/>
            <a:ext cx="2214676" cy="310896"/>
          </a:xfrm>
          <a:prstGeom prst="roundRect">
            <a:avLst/>
          </a:prstGeom>
          <a:solidFill>
            <a:srgbClr val="EDF7E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" y="3410712"/>
            <a:ext cx="2141524" cy="237744"/>
          </a:xfrm>
          <a:prstGeom prst="rect">
            <a:avLst/>
          </a:prstGeom>
          <a:noFill/>
        </p:spPr>
        <p:txBody>
          <a:bodyPr wrap="square" lIns="73152" rIns="73152" tIns="54864" bIns="3291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 i="0">
                <a:solidFill>
                  <a:srgbClr val="2D6D45"/>
                </a:solidFill>
                <a:latin typeface="Aptos"/>
              </a:rPr>
              <a:t>Machine-facing GTM layer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82772" y="3401568"/>
            <a:ext cx="2143353" cy="310896"/>
          </a:xfrm>
          <a:prstGeom prst="roundRect">
            <a:avLst/>
          </a:prstGeom>
          <a:solidFill>
            <a:srgbClr val="EDF7E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9348" y="3410712"/>
            <a:ext cx="2070201" cy="237744"/>
          </a:xfrm>
          <a:prstGeom prst="rect">
            <a:avLst/>
          </a:prstGeom>
          <a:noFill/>
        </p:spPr>
        <p:txBody>
          <a:bodyPr wrap="square" lIns="73152" rIns="73152" tIns="54864" bIns="3291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 i="0">
                <a:solidFill>
                  <a:srgbClr val="2D6D45"/>
                </a:solidFill>
                <a:latin typeface="Aptos"/>
              </a:rPr>
              <a:t>Bounded Gemini workflow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749040"/>
            <a:ext cx="2214676" cy="310896"/>
          </a:xfrm>
          <a:prstGeom prst="roundRect">
            <a:avLst/>
          </a:prstGeom>
          <a:solidFill>
            <a:srgbClr val="EDF7E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3758184"/>
            <a:ext cx="2141524" cy="237744"/>
          </a:xfrm>
          <a:prstGeom prst="rect">
            <a:avLst/>
          </a:prstGeom>
          <a:noFill/>
        </p:spPr>
        <p:txBody>
          <a:bodyPr wrap="square" lIns="73152" rIns="73152" tIns="54864" bIns="3291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 i="0">
                <a:solidFill>
                  <a:srgbClr val="2D6D45"/>
                </a:solidFill>
                <a:latin typeface="Aptos"/>
              </a:rPr>
              <a:t>Executive-ready Fix Pack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977639"/>
            <a:ext cx="53949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251960"/>
            <a:ext cx="4956048" cy="182880"/>
          </a:xfrm>
          <a:prstGeom prst="rect">
            <a:avLst/>
          </a:prstGeom>
          <a:noFill/>
        </p:spPr>
        <p:txBody>
          <a:bodyPr wrap="square" lIns="73152" rIns="73152" tIns="54864" bIns="3291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19" b="1" i="0">
                <a:solidFill>
                  <a:srgbClr val="6F7D70"/>
                </a:solidFill>
                <a:latin typeface="Aptos"/>
              </a:rPr>
              <a:t>Final footer 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553712"/>
            <a:ext cx="4956048" cy="292608"/>
          </a:xfrm>
          <a:prstGeom prst="rect">
            <a:avLst/>
          </a:prstGeom>
          <a:noFill/>
        </p:spPr>
        <p:txBody>
          <a:bodyPr wrap="square" lIns="73152" rIns="73152" tIns="54864" bIns="3291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2D6D45"/>
                </a:solidFill>
                <a:latin typeface="Aptos"/>
              </a:rPr>
              <a:t>One URL. One bounded Gemini workflow. One executive-ready Fix Pack.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37960" y="914400"/>
            <a:ext cx="461772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DBB95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47688" y="1024128"/>
            <a:ext cx="4398264" cy="3026663"/>
          </a:xfrm>
          <a:prstGeom prst="rect">
            <a:avLst/>
          </a:prstGeom>
          <a:noFill/>
        </p:spPr>
        <p:txBody>
          <a:bodyPr wrap="square" lIns="73152" rIns="73152" tIns="54864" bIns="3291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2D6D45"/>
                </a:solidFill>
                <a:latin typeface="Aptos"/>
              </a:rPr>
              <a:t>[INSERT APP SCREENSHOT: Final app hero screenshot]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4462272"/>
            <a:ext cx="4617720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4645152"/>
            <a:ext cx="4297680" cy="219456"/>
          </a:xfrm>
          <a:prstGeom prst="rect">
            <a:avLst/>
          </a:prstGeom>
          <a:noFill/>
        </p:spPr>
        <p:txBody>
          <a:bodyPr wrap="square" lIns="73152" rIns="73152" tIns="54864" bIns="3291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20" b="1" i="0">
                <a:solidFill>
                  <a:srgbClr val="2D6D45"/>
                </a:solidFill>
                <a:latin typeface="Aptos"/>
              </a:rPr>
              <a:t>Screenshots to capture and insert manually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4873752"/>
            <a:ext cx="4206240" cy="128016"/>
          </a:xfrm>
          <a:prstGeom prst="rect">
            <a:avLst/>
          </a:prstGeom>
          <a:noFill/>
        </p:spPr>
        <p:txBody>
          <a:bodyPr wrap="square" lIns="73152" rIns="73152" tIns="54864" bIns="3291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19" b="0" i="0">
                <a:solidFill>
                  <a:srgbClr val="49564A"/>
                </a:solidFill>
                <a:latin typeface="Aptos"/>
              </a:rPr>
              <a:t>• Hero / main app screen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5006340"/>
            <a:ext cx="4206240" cy="128016"/>
          </a:xfrm>
          <a:prstGeom prst="rect">
            <a:avLst/>
          </a:prstGeom>
          <a:noFill/>
        </p:spPr>
        <p:txBody>
          <a:bodyPr wrap="square" lIns="73152" rIns="73152" tIns="54864" bIns="3291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19" b="0" i="0">
                <a:solidFill>
                  <a:srgbClr val="49564A"/>
                </a:solidFill>
                <a:latin typeface="Aptos"/>
              </a:rPr>
              <a:t>• Workflow trace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5138928"/>
            <a:ext cx="4206240" cy="128016"/>
          </a:xfrm>
          <a:prstGeom prst="rect">
            <a:avLst/>
          </a:prstGeom>
          <a:noFill/>
        </p:spPr>
        <p:txBody>
          <a:bodyPr wrap="square" lIns="73152" rIns="73152" tIns="54864" bIns="3291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19" b="0" i="0">
                <a:solidFill>
                  <a:srgbClr val="49564A"/>
                </a:solidFill>
                <a:latin typeface="Aptos"/>
              </a:rPr>
              <a:t>• Executive Verdict + Boardroom Snapshot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5271516"/>
            <a:ext cx="4206240" cy="128016"/>
          </a:xfrm>
          <a:prstGeom prst="rect">
            <a:avLst/>
          </a:prstGeom>
          <a:noFill/>
        </p:spPr>
        <p:txBody>
          <a:bodyPr wrap="square" lIns="73152" rIns="73152" tIns="54864" bIns="3291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19" b="0" i="0">
                <a:solidFill>
                  <a:srgbClr val="49564A"/>
                </a:solidFill>
                <a:latin typeface="Aptos"/>
              </a:rPr>
              <a:t>• Decision Memo + Scorecards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5404104"/>
            <a:ext cx="4206240" cy="128016"/>
          </a:xfrm>
          <a:prstGeom prst="rect">
            <a:avLst/>
          </a:prstGeom>
          <a:noFill/>
        </p:spPr>
        <p:txBody>
          <a:bodyPr wrap="square" lIns="73152" rIns="73152" tIns="54864" bIns="3291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19" b="0" i="0">
                <a:solidFill>
                  <a:srgbClr val="49564A"/>
                </a:solidFill>
                <a:latin typeface="Aptos"/>
              </a:rPr>
              <a:t>• Fix Pack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5536692"/>
            <a:ext cx="4206240" cy="128016"/>
          </a:xfrm>
          <a:prstGeom prst="rect">
            <a:avLst/>
          </a:prstGeom>
          <a:noFill/>
        </p:spPr>
        <p:txBody>
          <a:bodyPr wrap="square" lIns="73152" rIns="73152" tIns="54864" bIns="3291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19" b="0" i="0">
                <a:solidFill>
                  <a:srgbClr val="49564A"/>
                </a:solidFill>
                <a:latin typeface="Aptos"/>
              </a:rPr>
              <a:t>• Shopify case output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5669280"/>
            <a:ext cx="4206240" cy="128016"/>
          </a:xfrm>
          <a:prstGeom prst="rect">
            <a:avLst/>
          </a:prstGeom>
          <a:noFill/>
        </p:spPr>
        <p:txBody>
          <a:bodyPr wrap="square" lIns="73152" rIns="73152" tIns="54864" bIns="3291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19" b="0" i="0">
                <a:solidFill>
                  <a:srgbClr val="49564A"/>
                </a:solidFill>
                <a:latin typeface="Aptos"/>
              </a:rPr>
              <a:t>• Evidence Receipts / Agent Artifacts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48288" y="6400800"/>
            <a:ext cx="320040" cy="201168"/>
          </a:xfrm>
          <a:prstGeom prst="rect">
            <a:avLst/>
          </a:prstGeom>
          <a:noFill/>
        </p:spPr>
        <p:txBody>
          <a:bodyPr wrap="square" lIns="73152" rIns="73152" tIns="54864" bIns="32918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50" b="0" i="0">
                <a:solidFill>
                  <a:srgbClr val="6F7D70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